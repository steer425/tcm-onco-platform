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對象為不預設醫學或資訊背景的讀者。全篇共九節，對應同名 Word 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兩篇新聞都沒有提到「暗黑基因」——那是平台模組的名稱，不是新聞內容。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 億 bp（單套）／62 億 bp（雙套，真實細胞）／23 對染色體／約 2 萬個蛋白編碼基因／3 個鹼基 = 1 個胺基酸。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平台的操作層級是「分子 ↔ 蛋白質 ↔ 細胞」三層，不處理組織與器官層級，也不做臨床判讀。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2024/5 納入健保涵蓋 19 種癌別；2024/12 再納 7 類單基因檢測；2026/9 擴大癌別。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真正在處理那 98% 的是 AlphaGenome 這類非編碼區預測模型，本平台尚未串接，卡在授權釐清而非技術。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GenCC 全名 The Gene Curation Coalition，官網 https://thegencc.org/，彙整 ClinGen、PanelApp 等專家審查小組的結論。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DepMap 24Q2 Public：1,208 株細胞、1,239 個基因、130,865 筆依賴配對。要先扣掉 96 個泛必需基因（佔 71.1% 配對）。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建議開發順序：① VCF 解析器 ② PDF 欄位擷取 ③ 匯入時自動套用品質過濾並顯示刷掉了什麼。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PTEN 實跑：命中 1 個 TCMSP 靶點 TAR04620，帶出 339 種候選藥材。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所有數值取自 PubChem CID 11092 條目，2026-09-17 實查。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PubChem 條目本身也註明 Paeonia × suffruticosa root（牡丹皮），與平台的關聯一致。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「候選藥材 339 種」不是「339 種藥對 PTEN 有效」——TCMSP 的成分–靶點關聯有相當比例來自分子對接預測。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DeepVariant：Poplin et al., A universal SNP and small-indel variant caller using deep neural networks, Nature Biotechnology 2018。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全篇結束。對應的 Word 文件含更完整的表格與出處清單。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463040"/>
            <a:ext cx="4754880" cy="4754880"/>
          </a:xfrm>
          <a:prstGeom prst="ellipse">
            <a:avLst/>
          </a:prstGeom>
          <a:solidFill>
            <a:srgbClr val="1E4433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480560"/>
            <a:ext cx="2377440" cy="2377440"/>
          </a:xfrm>
          <a:prstGeom prst="ellipse">
            <a:avLst/>
          </a:prstGeom>
          <a:solidFill>
            <a:srgbClr val="1E4433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1417320"/>
            <a:ext cx="237744" cy="237744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5" name="Shape 3"/>
          <p:cNvSpPr/>
          <p:nvPr/>
        </p:nvSpPr>
        <p:spPr>
          <a:xfrm>
            <a:off x="1225296" y="1417320"/>
            <a:ext cx="237744" cy="237744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6" name="Shape 4"/>
          <p:cNvSpPr/>
          <p:nvPr/>
        </p:nvSpPr>
        <p:spPr>
          <a:xfrm>
            <a:off x="1609344" y="1417320"/>
            <a:ext cx="237744" cy="237744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7" name="Shape 5"/>
          <p:cNvSpPr/>
          <p:nvPr/>
        </p:nvSpPr>
        <p:spPr>
          <a:xfrm>
            <a:off x="1993392" y="1417320"/>
            <a:ext cx="237744" cy="237744"/>
          </a:xfrm>
          <a:prstGeom prst="ellipse">
            <a:avLst/>
          </a:prstGeom>
          <a:solidFill>
            <a:srgbClr val="C0533E"/>
          </a:solidFill>
          <a:ln/>
        </p:spPr>
      </p:sp>
      <p:sp>
        <p:nvSpPr>
          <p:cNvPr id="8" name="Shape 6"/>
          <p:cNvSpPr/>
          <p:nvPr/>
        </p:nvSpPr>
        <p:spPr>
          <a:xfrm>
            <a:off x="2377440" y="1417320"/>
            <a:ext cx="237744" cy="237744"/>
          </a:xfrm>
          <a:prstGeom prst="ellipse">
            <a:avLst/>
          </a:prstGeom>
          <a:solidFill>
            <a:srgbClr val="8B5FB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920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健保 NGS 擴大給付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88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與本平台如何從基因報告走到中藥分子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剪報與延伸說明　—　從一個鹼基對，走到一味藥材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5394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9 月 17 日　｜　資料來源：聯合報／中央社、PubChem、UniProt、OncoKB、GenCC、DepMap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5779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科研輔助工具　·　不作為醫療診斷或治療建議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新聞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剪報：兩則新聞講的是同一件事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58191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084832" y="1581912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標題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42432" y="158191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571232" y="158191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1518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965960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2026-09-13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084832" y="1965960"/>
            <a:ext cx="3511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健保 NGS 擴大適用癌別 9 月上路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擬再增液態切片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742432" y="1965960"/>
            <a:ext cx="1682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聯合新聞網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（中央社）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571232" y="1965960"/>
            <a:ext cx="3968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月起擴大 NGS 適用範圍，約 5,100 名癌友受惠，挹注 1 億元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11064240" cy="713232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32841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679192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2026-09-14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084832" y="2679192"/>
            <a:ext cx="3511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納健保給付擴大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 5100 癌友受惠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742432" y="2679192"/>
            <a:ext cx="1682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聯合報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周佑政、李樹人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571232" y="2679192"/>
            <a:ext cx="3968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2024/5 納入涵蓋 19 種癌別，2024/12 再納 7 類單基因，2026/9 擴大癌別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3337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這次新增的檢測項目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657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乳癌早期：BRCA1／BRCA2　·　乳癌局部晚期或轉移性：PIK3CA、AKT1、PTEN　·　卵巢癌等：HRD（同源重組修復缺失）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0416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每年新確診癌症約 12 萬多人　·　癌症篩檢經費由 28 億提高至 68 億元　·　癌症新藥基金累計 100 億元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2960" y="4892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為什麼這份剪報接得上本平台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193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新聞新增的三個乳癌標記裡，PTEN 正好也在本平台的暗黑基因清單裡。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一份健保給付的 NGS 報告驗出 PTEN，這個基因符號就能直接接進平台既有的比對鏈路。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第一節　DNA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DNA 的基本組成：四個字母、兩種配對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642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磷酸基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933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把一個核苷酸接到下一個，串成骨架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536192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34840" y="16642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去氧核糖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9933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五碳醣，骨架的另一半。DNA 的「去氧」就是指這個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536192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138160" y="16642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含氮鹼基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19933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真正攜帶資訊的部分，只有四種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788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核苷酸（nucleotide）＝ DNA 的最小單位，由三個部分組成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" y="320040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代號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719072" y="320040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547872" y="320040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742432" y="320040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配對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205472" y="3200400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04488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358444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719072" y="358444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腺嘌呤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547872" y="3584448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Adenine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742432" y="358444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205472" y="3584448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A–T 之間形成 2 個氫鍵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904488"/>
            <a:ext cx="11064240" cy="384048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28853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" y="3968496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719072" y="396849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胸腺嘧啶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547872" y="3968496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Thymine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742432" y="396849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205472" y="3968496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67258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1792" y="435254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719072" y="435254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鳥嘌呤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3547872" y="435254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Guanine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742432" y="435254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7205472" y="4352544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G–C 之間形成 3 個氫鍵，較穩固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4672584"/>
            <a:ext cx="11064240" cy="384048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40" name="Shape 38"/>
          <p:cNvSpPr/>
          <p:nvPr/>
        </p:nvSpPr>
        <p:spPr>
          <a:xfrm>
            <a:off x="548640" y="505663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1792" y="4736592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719072" y="473659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胞嘧啶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547872" y="473659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Cytosine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742432" y="473659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7205472" y="4736592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51206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822960" y="5349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「鹼基對（base pair, bp）」就是這裡來的：因為配對固定，只要知道一條鏈，另一條就完全確定——這正是細胞能複製 DNA、定序儀能讀出序列的根本原因。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第二節　pathway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從 DNA 到器官：一條由下往上的生產線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1737360"/>
            <a:ext cx="320040" cy="320040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179222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1488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轉錄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423160" y="1600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1737360"/>
            <a:ext cx="320040" cy="320040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08960" y="179222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21488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mRNA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轉譯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343400" y="1600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0" y="1737360"/>
            <a:ext cx="320040" cy="320040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29200" y="179222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21488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蛋白質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摺疊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63640" y="1600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9440" y="1737360"/>
            <a:ext cx="320040" cy="320040"/>
          </a:xfrm>
          <a:prstGeom prst="ellipse">
            <a:avLst/>
          </a:prstGeom>
          <a:solidFill>
            <a:srgbClr val="4A7C8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49440" y="179222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21488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細胞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建構與操作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183880" y="1600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869680" y="1737360"/>
            <a:ext cx="320040" cy="320040"/>
          </a:xfrm>
          <a:prstGeom prst="ellipse">
            <a:avLst/>
          </a:prstGeom>
          <a:solidFill>
            <a:srgbClr val="8B5FB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869680" y="179222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183880" y="21488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組織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聚集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0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0104120" y="1600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789920" y="1737360"/>
            <a:ext cx="320040" cy="320040"/>
          </a:xfrm>
          <a:prstGeom prst="ellipse">
            <a:avLst/>
          </a:prstGeom>
          <a:solidFill>
            <a:srgbClr val="C0533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789920" y="179222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0104120" y="21488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器官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010412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組合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31546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22960" y="32826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順序上最常被講反的一句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822960" y="359359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常見說法是「DNA → 形成細胞 → 形成蛋白質」，但因果是反過來的：先有蛋白質，才有細胞的結構與功能。細胞本身是上一個細胞分裂來的，DNA 在細胞裡做的事是製造蛋白質。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21792" y="448056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層級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2450592" y="448056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出了什麼事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291072" y="4480560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PTEN 為例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516636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21792" y="486460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2450592" y="4864608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一個鹼基被換掉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6291072" y="4864608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10 號染色體上 PTEN 出現變異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51" name="Shape 49"/>
          <p:cNvSpPr/>
          <p:nvPr/>
        </p:nvSpPr>
        <p:spPr>
          <a:xfrm>
            <a:off x="548640" y="553212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21792" y="523036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蛋白質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2450592" y="5230368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摺疊錯誤或做不出來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91072" y="5230368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PTEN 蛋白失去磷酸酶功能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48640" y="589788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21792" y="559612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細胞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2450592" y="5596128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該關的訊號關不掉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6291072" y="5596128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PI3K／AKT 一直開著，煞車失靈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60" name="Shape 58"/>
          <p:cNvSpPr/>
          <p:nvPr/>
        </p:nvSpPr>
        <p:spPr>
          <a:xfrm>
            <a:off x="548640" y="62636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21792" y="596188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組織 → 器官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2450592" y="5961888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細胞不受控增生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6291072" y="5961888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形成腫瘤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第三節　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什麼是 NGS：從一次驗一個，變成一次驗幾百個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0020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999232" y="1600200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傳統單基因檢測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05472" y="1600200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NGS（次世代基因定序）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984248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一次驗幾個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999232" y="1984248"/>
            <a:ext cx="4059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個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205472" y="1984248"/>
            <a:ext cx="4334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數十到數百個；全基因體定序則是全部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487168"/>
            <a:ext cx="11064240" cy="566928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05409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551176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怎麼決定驗什麼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999232" y="2551176"/>
            <a:ext cx="4059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醫師先猜一個方向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205472" y="2551176"/>
            <a:ext cx="4334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一次全驗，事後再從結果裡挑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62102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3118104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猜錯的代價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999232" y="3118104"/>
            <a:ext cx="4059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要重來、重抽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205472" y="3118104"/>
            <a:ext cx="4334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大幅降低，但多出「一堆看不懂的變異」的新問題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9F1F8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2960" y="3840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液態切片 liquid biopsy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160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不用開刀取腫瘤組織，改成抽血，從血液裡漂浮的腫瘤 DNA 定序。新聞說「擬積極研擬擴大」，代表目前還不在給付範圍內。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7033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537960" y="3840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精準醫療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4160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新聞的說法是「協助臨床醫師制定個人化治療、精準投藥」。白話就是先看腫瘤帶什麼變異，再決定用哪個藥。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22960" y="5385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NGS 是檢測，不是治療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69671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它產出的是一份變異清單，清單本身不會告訴你該吃什麼。從清單到治療決策中間還有醫師判讀、藥證、給付條件——那一段不在本平台範圍內。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第四節　名詞正本清源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有兩個「暗黑」，而且都不是可編碼蛋白區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0020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633472" y="160020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可編碼蛋白區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91072" y="160020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genome（暗黑基因體）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034272" y="160020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genes（暗黑基因）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98424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633472" y="19842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protein-coding region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291072" y="198424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non-coding region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034272" y="198424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understudied genes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11064240" cy="4572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8346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44144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佔基因體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633472" y="24414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 1～2%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291072" y="244144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 98%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034272" y="244144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沒有固定佔比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289864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指什麼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633472" y="28986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會被轉譯成蛋白質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91072" y="289864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不產生蛋白質，含調控元件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034272" y="289864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少有人研究的基因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291840"/>
            <a:ext cx="11064240" cy="4572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7490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335584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633472" y="33558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291072" y="335584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編碼區以外的全部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034272" y="335584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就在那 1～2% 裡面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2062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" y="381304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平台用的是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2633472" y="38130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GenCC 模組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91072" y="381304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尚未處理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034272" y="381304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OncoKB 模組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1148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22960" y="42428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「dark genome 為什麼稱為可編碼蛋白區」——這個問題的前提是反的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22960" y="4553712"/>
            <a:ext cx="10515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兩者指的是完全相反的區域，加起來才是 100%。平台的「暗黑基因」（OncoKB）與「可編碼蛋白區」（GenCC）兩個模組，看的其實都是同一塊 1～2% 的編碼區，只是問的問題不同。兩者都不是在看 dark genome 那 98%。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一句話記法：dark genome 是「黑暗的區域」，dark genes 是「被冷落的基因」。前者暗在不知道它在做什麼，後者暗在沒人去研究它。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第四節　資料來源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OncoKB：全名、營運單位與網址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1EBF8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6420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OncoKB™ — MSK’s Precision Oncology Knowledge Base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4825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Onco（腫瘤）＋ KB（Knowledge Base，知識庫）　·　中文可譯為「MSK 精準腫瘤學知識庫」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278892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項目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999232" y="2788920"/>
            <a:ext cx="8540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52958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17296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營運單位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999232" y="3172968"/>
            <a:ext cx="854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Memorial Sloan Kettering Cancer Center（MSK，美國紀念斯隆凱特琳癌症中心）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529584"/>
            <a:ext cx="11064240" cy="420624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950208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59359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官方網址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999232" y="3593592"/>
            <a:ext cx="854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https://www.oncokb.org/　（癌症基因清單：https://www.oncokb.org/cancer-genes）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37083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401421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特殊地位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999232" y="4014216"/>
            <a:ext cx="854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FDA-Recognized Human Genetic Variant Database（經美國 FDA 認可，範圍限於網站明確標示的內容）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370832"/>
            <a:ext cx="11064240" cy="420624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79145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443484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清單依據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999232" y="4434840"/>
            <a:ext cx="854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各家定序 panel、Sanger Cancer Gene Census、Vogelstein 等人 2013 年論文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485546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證據分級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999232" y="4855464"/>
            <a:ext cx="854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已有 FDA 核准藥物／2 標準治療／3 臨床證據／4 生物學證據／R1-R2 抗藥性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212080"/>
            <a:ext cx="11064240" cy="420624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563270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" y="527608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引用方式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999232" y="5276088"/>
            <a:ext cx="854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Suehnholz et al., Cancer Discovery 2024；Chakravarty et al., JCO PO 2017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22960" y="56144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平台的 1,245 是舊快照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5925312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2026-09-17 實查官網，Cancer Gene List 已是 1,246 個基因（v7.5，最後更新 2026-08-28）。這份清單會持續增補，平台需要定期重新匯入——否則新基因查不到，而且畫面不會報錯，只會顯示「沒有比對到」。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如何從 NGS 報告中找到暗黑基因與腫瘤細胞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37283" cy="1005840"/>
          </a:xfrm>
          <a:prstGeom prst="roundRect">
            <a:avLst>
              <a:gd name="adj" fmla="val 6364"/>
            </a:avLst>
          </a:prstGeom>
          <a:solidFill>
            <a:srgbClr val="F2F5F3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" y="1655064"/>
            <a:ext cx="19092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　品質過濾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956816"/>
            <a:ext cx="19092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剔掉 qc fail、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深度與比例太低的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585923" y="192938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05379" y="1554480"/>
            <a:ext cx="2037283" cy="1005840"/>
          </a:xfrm>
          <a:prstGeom prst="roundRect">
            <a:avLst>
              <a:gd name="adj" fmla="val 6364"/>
            </a:avLst>
          </a:prstGeom>
          <a:solidFill>
            <a:srgbClr val="E9F1F8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69387" y="1655064"/>
            <a:ext cx="19092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　取基因符號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869387" y="1956816"/>
            <a:ext cx="19092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只留 gene_symbol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去重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42662" y="192938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62118" y="1554480"/>
            <a:ext cx="2037283" cy="1005840"/>
          </a:xfrm>
          <a:prstGeom prst="roundRect">
            <a:avLst>
              <a:gd name="adj" fmla="val 6364"/>
            </a:avLst>
          </a:prstGeom>
          <a:solidFill>
            <a:srgbClr val="F1EBF8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6126" y="1655064"/>
            <a:ext cx="19092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　比對 OncoKB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126126" y="1956816"/>
            <a:ext cx="19092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1,245 個癌症基因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命中即為暗黑基因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099402" y="192938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8858" y="1554480"/>
            <a:ext cx="2037283" cy="1005840"/>
          </a:xfrm>
          <a:prstGeom prst="roundRect">
            <a:avLst>
              <a:gd name="adj" fmla="val 6364"/>
            </a:avLst>
          </a:prstGeom>
          <a:solidFill>
            <a:srgbClr val="EAF2EC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82866" y="1655064"/>
            <a:ext cx="19092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　查 GenCC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82866" y="1956816"/>
            <a:ext cx="19092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是哪一種疾病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證據多強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356141" y="192938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575597" y="1554480"/>
            <a:ext cx="2037283" cy="1005840"/>
          </a:xfrm>
          <a:prstGeom prst="roundRect">
            <a:avLst>
              <a:gd name="adj" fmla="val 6364"/>
            </a:avLst>
          </a:prstGeom>
          <a:solidFill>
            <a:srgbClr val="FBF4E6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39605" y="1655064"/>
            <a:ext cx="19092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　查 DepMap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639605" y="1956816"/>
            <a:ext cx="19092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哪些癌細胞株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依賴這個基因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278892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1792" y="283464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報告欄位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816352" y="283464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例子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828032" y="2834640"/>
            <a:ext cx="6711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白話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5204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" y="321868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chromosome / position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816352" y="3218688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89692905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828032" y="3218688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在第幾號染色體的第幾個位置。PTEN 在第 10 號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520440"/>
            <a:ext cx="11064240" cy="36576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388620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" y="358444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/ alt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2816352" y="3584448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→ T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828032" y="3584448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參考基因體原本是 C，這個人是 T——變異就是這樣定義的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25196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1792" y="395020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gene_symbol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2816352" y="3950208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PTEN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828032" y="3950208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這是接進本平台的唯一鑰匙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251960"/>
            <a:ext cx="11064240" cy="36576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41" name="Shape 39"/>
          <p:cNvSpPr/>
          <p:nvPr/>
        </p:nvSpPr>
        <p:spPr>
          <a:xfrm>
            <a:off x="548640" y="461772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1792" y="431596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/ allele_fraction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2816352" y="4315968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 / 0.42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828032" y="4315968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讀了幾次、帶變異的比例。腫瘤檢體常在 0.05～0.5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498348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21792" y="468172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qc_status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2816352" y="4681728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4828032" y="4681728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品管沒過的不該往下送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822960" y="51572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腫瘤細胞這一段最常被誤解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822960" y="546811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報告裡沒有「腫瘤細胞株」這種東西。報告給的是變異，不是細胞。正確說法是：拿命中的基因符號去 DepMap 查「哪些癌細胞株把這個基因關掉之後活不下去」——那是另一個資料庫的另一份實驗資料。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第六節　實際操作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如何從本系統匯入 NGS 報告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0020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步驟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536192" y="160020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畫面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096512" y="160020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做什麼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028432" y="160020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備註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984248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536192" y="198424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病患管理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096512" y="19842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建立病患基本資料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028432" y="19842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匯入批次一定要掛在病患底下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11064240" cy="4572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8346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441448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536192" y="244144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資料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096512" y="24414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新增檢體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028432" y="24414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選填，但多次檢測靠它分辨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2898648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536192" y="289864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資料 → 上傳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096512" y="28986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 CSV，填批次編號、平台、panel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028432" y="28986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批次編號不可重複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291840"/>
            <a:ext cx="11064240" cy="4572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7490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3355848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536192" y="335584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 → 變異清單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096512" y="33558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逐筆看變異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028432" y="33558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命中暗黑基因的會被標記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2062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" y="3813048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536192" y="381304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病患暗黑基因摘要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096512" y="38130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跨批次去重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028432" y="381304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點基因即進入關聯查詢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114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22960" y="422452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欄位規格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22960" y="44988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必要（缺一不可）：chromosome、position、ref_allele、alt_allele、gene_symbol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選填：hgvs、depth、allele_fraction、qc_status、clinical_significance　·　編碼須為 UTF-8　·　所有匯入都寫進稽核日誌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52120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22960" y="53400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目前最大的落差：只吃 CSV，不吃 VCF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822960" y="56509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實驗室交付的 NGS 報告多半是 VCF 原始檔或 PDF，兩種都不能直接上傳，必須先人工轉檔。這是把真實 NGS 流程接進平台前必須先補的一塊。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第七節　完整鏈路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系統如何從 NGS 走到靶點、分子與中藥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0020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60020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547872" y="160020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25312" y="1600200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靠什麼接起來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2257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98424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198424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變異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198424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基因符號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925312" y="1984248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報告裡的 gene_symbol 欄位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322576"/>
            <a:ext cx="11064240" cy="402336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72491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386584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238658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基因符號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547872" y="238658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暗黑基因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925312" y="2386584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 OncoKB 的 1,245 個癌症基因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127248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278892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27889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暗黑基因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547872" y="278892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靶點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925312" y="2788920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這一段最關鍵：靶點標準化（UniProt）。TCMSP 存蛋白全名，要先翻成基因符號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127248"/>
            <a:ext cx="11064240" cy="402336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52958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3191256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353312" y="319125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靶點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3547872" y="319125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成分（分子）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925312" y="3191256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的成分–靶點關聯表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93192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" y="359359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353312" y="359359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3547872" y="359359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藥材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925312" y="3593592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的藥材–成分關聯表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3931920"/>
            <a:ext cx="11064240" cy="402336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433425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1792" y="399592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353312" y="399592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3547872" y="399592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化學結構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925312" y="3995928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成分標準化（PubChem）：SMILES／InChIKey／CAS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473659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1792" y="4398264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1353312" y="439826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基因符號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3547872" y="439826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腫瘤細胞株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5925312" y="4398264"/>
            <a:ext cx="561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DepMap 基因依賴分數（與 3～6 平行的另一條線）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8640" y="46177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822960" y="47365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標準化前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" y="501091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癌症基因比對率 2.6%（32／1,245）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AR、TP53、EGFR 都在庫裡卻全部比不到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6263640" y="46177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51" name="Text 49"/>
          <p:cNvSpPr txBox="1"/>
          <p:nvPr/>
        </p:nvSpPr>
        <p:spPr>
          <a:xfrm>
            <a:off x="6537960" y="47365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標準化後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6537960" y="501091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癌症基因比對率 18.0%（224／1,245），提升 7 倍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靶點解析覆蓋率 72.2%，連線失敗 0 筆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而且失真是靜默的：畫面不會顯示「比對失敗」，只會顯示「沒有關聯」——看起來就像一個研究結論。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第八節　化學式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中藥分子長什麼樣：以 paeonol（丹皮酚）為例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0020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欄位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16352" y="160020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值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91072" y="1600200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2257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98424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中文／英文名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816352" y="1984248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丹皮酚 ／ Paeonol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291072" y="1984248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屬名 Paeonia（芍藥屬）＋ -ol（酚類字尾）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322576"/>
            <a:ext cx="11064240" cy="402336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72491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38658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分子式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816352" y="2386584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C₉H₁₀O₃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291072" y="2386584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個碳、10 個氫、3 個氧。就這 22 個原子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127248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27889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分子量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816352" y="278892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166.17 g/mol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291072" y="2788920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很小。人參皂苷多在 800 以上，這是它們口服吸收差的原因之一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127248"/>
            <a:ext cx="11064240" cy="402336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52958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319125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IUPAC 名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816352" y="3191256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1-(2-hydroxy-4-methoxyphenyl)ethanone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291072" y="3191256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照結構規則寫出的正式名稱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93192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359359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816352" y="3593592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CC(=O)C1=C(C=C(C=C1)OC)O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291072" y="3593592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用一串文字描述結構，電腦可直接讀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931920"/>
            <a:ext cx="11064240" cy="402336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433425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" y="399592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InChIKey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2816352" y="3995928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UILPJVPSNHJFIK-UHFFFAOYSA-N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91072" y="3995928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從結構算出的 27 碼指紋，跨資料庫比對最可靠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73659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1792" y="439826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／ PubChem CID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2816352" y="4398264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552-41-0 ／ 11092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291072" y="4398264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法規採購用 ／ 可直接查結構與文獻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9F1F8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22960" y="4892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分子式只說「有幾個什麼原子」，不說它們怎麼接——決定藥理性質的是官能基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822960" y="5212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苯環（骨架，提供親脂性）　·　酚羥基 –OH（抗氧化活性主要來自這裡，也是與蛋白結合的位置）　·　甲氧基 –OCH₃（調整親脂性與代謝穩定度）　·　乙醯基 –COCH₃（與相鄰酚羥基形成分子內氫鍵）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822960" y="57424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 逐段對照：CC(=O) 乙醯基 → C1=C(…)C=C1 苯環 → OC 甲氧基 → 結尾的 O 酚羥基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第八節　程序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從 NGS 報告走到牡丹皮：完整八步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0020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600200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187952" y="160020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在平台的哪裡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54112" y="160020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驗證／限制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98424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198424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 報告驗出 PTEN 變異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187952" y="19842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資料 → 上傳 CSV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754112" y="19842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需先把 VCF 轉成 CSV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377440"/>
            <a:ext cx="11064240" cy="4572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8346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44144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244144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gene_symbol = PTEN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187952" y="24414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批次變異清單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754112" y="24414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品質未過的不該往下送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289864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289864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 OncoKB → 命中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187952" y="28986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病患暗黑基因摘要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754112" y="28986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PTEN 確實在 1,245 個癌症基因裡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291840"/>
            <a:ext cx="11064240" cy="4572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7490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335584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261872" y="335584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基因符號 → TCMSP 靶點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187952" y="33558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暗黑基因-靶點關聯視窗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754112" y="33558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 TAR04620，1 個靶點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2062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" y="381304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261872" y="381304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靶點 → UniProt 標準化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187952" y="38130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靶點標準化（UniProt）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754112" y="38130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PTEN 登錄號 P60484；未標準化就走不到這一步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46634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1792" y="427024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261872" y="427024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靶點 → 成分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187952" y="42702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關聯圖的藍色節點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7754112" y="42702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其中之一是 paeonol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51206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1792" y="472744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1261872" y="472744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 → 化學結構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4187952" y="47274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成分標準化（PubChem）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7754112" y="47274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 CID／SMILES／CAS，以分子量對帳驗算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48" name="Shape 46"/>
          <p:cNvSpPr/>
          <p:nvPr/>
        </p:nvSpPr>
        <p:spPr>
          <a:xfrm>
            <a:off x="548640" y="55778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21792" y="518464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1261872" y="518464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 → 藥材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4187952" y="518464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關聯圖的黃色節點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7754112" y="518464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paeonol 連到牡丹皮、徐長卿等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第八節　界線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這裡絕對不能講成「牡丹皮對抗 PTEN 癌症」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824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PTEN 是抑癌基因，它的變異是「失去功能」，不是「功能過強」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93392"/>
            <a:ext cx="10515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一個已經失去功能的蛋白，沒有東西可以去「抑制」它——所以「找一個分子去對抗 PTEN」這句話在藥理上是不成立的。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017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這正好可以回到新聞本身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1012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新聞把 PIK3CA、AKT1、PTEN 三個一起列不是巧合。PTEN 的正常工作是踩煞車、關掉 PI3K／AKT 生長訊號；PTEN 失效等於煞車壞了，真正可以下手的是下游的 PI3K 與 AKT。這就是健保把這三個檢測綁在同一組的原因。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2793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「PTEN → paeonol → 牡丹皮」正確的讀法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5371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TCMSP 把 paeonol 註記為與 PTEN 這個蛋白有關聯，而牡丹皮含有 paeonol。這是一條值得查證的線索，不是一個結論。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212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要把它變成證據，至少還缺三件事：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0468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確認那條註記的來源：是實驗測到的結合，還是分子對接的電腦預測？TCMSP 兩種混在一起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76072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確認作用方向：是活化、抑制，還是只是「文獻同時提到」？資料庫本身不區分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0167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實際的結合與活性驗證。沒有這一步，前面全部只是資料庫關聯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第九節　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興起之後：60 億組基因資料為什麼讀得動了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0020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說法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364992" y="160020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數字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559552" y="1600200"/>
            <a:ext cx="5980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指的是什麼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2257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98424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參考基因體（單套）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364992" y="198424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 31 億 bp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559552" y="1984248"/>
            <a:ext cx="5980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文獻與資料庫講的「人類基因體」多半是這一個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322576"/>
            <a:ext cx="11064240" cy="402336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72491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3865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人體細胞（雙套）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364992" y="238658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 62 億 bp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559552" y="2386584"/>
            <a:ext cx="5980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父母各給一套。一般講「60 億組」指的就是這個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29626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一次全基因體定序的資料量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27355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 900～1,000 億個鹼基的原始讀數，檔案動輒 100 GB 以上　→　比對完約有 300～500 萬個變異與參考基因體不同　→　其中絕大多數無害，真正需要人看的通常是幾十個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2062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這就是問題所在：不是資料不夠，是人看不完。從 400 萬縮到 40 個，靠人工逐筆判讀在實務上不可能。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" y="466344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環節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816352" y="466344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在做什麼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291072" y="4663440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AI／演算法的角色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" y="504748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序列比對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816352" y="5047488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把幾億條短片段貼回正確位置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291072" y="5047488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高效演算法把數天壓到數小時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571500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" y="541324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變異判讀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816352" y="5413248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判斷是真變異還是機器讀錯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291072" y="5413248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的 DeepVariant 把定序資料轉成影像用深度學習判讀（Nature Biotechnology）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08076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1792" y="577900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註釋與排序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2816352" y="5779008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標上「這是什麼、重不重要」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291072" y="5779008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自動比對 ClinVar、OncoKB、GenCC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39" name="Shape 37"/>
          <p:cNvSpPr/>
          <p:nvPr/>
        </p:nvSpPr>
        <p:spPr>
          <a:xfrm>
            <a:off x="548640" y="644652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1792" y="614476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非編碼區解讀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2816352" y="6144768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 98% 在做什麼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291072" y="6144768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AlphaGenome 這類模型。本平台尚未串接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第九節　定位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本平台目前用 AI 到什麼程度（誠實版）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solidFill>
            <a:srgbClr val="E4EA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4592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環節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096512" y="164592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現況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73952" y="1645920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029968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 → 靶點 → 成分 → 藥材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096512" y="2029968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規則式比對，不是 AI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2029968"/>
            <a:ext cx="5065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 UniProt 標準化後的基因符號精確比對。這一段刻意不用 AI——比對要可重現、可追溯到出處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532888"/>
            <a:ext cx="11064240" cy="566928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099816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596896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通路富集的統計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096512" y="2596896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古典統計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73952" y="2596896"/>
            <a:ext cx="5065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超幾何檢定 + Benjamini–Hochberg 校正，不是機器學習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666744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3163824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每日新聞的摘要與評分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096512" y="3163824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有用 AI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73952" y="3163824"/>
            <a:ext cx="5065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自動摘要與依證據可信度排序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666744"/>
            <a:ext cx="11064240" cy="566928"/>
          </a:xfrm>
          <a:prstGeom prst="rect">
            <a:avLst/>
          </a:prstGeom>
          <a:solidFill>
            <a:srgbClr val="F6F8F7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233672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3730752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研究報告生成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096512" y="3730752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規劃中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73952" y="3730752"/>
            <a:ext cx="5065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分析鏈路的第七站，尚未開始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800600"/>
            <a:ext cx="11064240" cy="914"/>
          </a:xfrm>
          <a:prstGeom prst="line">
            <a:avLst/>
          </a:prstGeom>
          <a:noFill/>
          <a:ln w="9525">
            <a:solidFill>
              <a:srgbClr val="E1E7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4297680"/>
            <a:ext cx="3328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非編碼區預測（AlphaGenome）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096512" y="4297680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尚未串接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473952" y="4297680"/>
            <a:ext cx="5065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GDSC 同類的授權待釐清項目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7091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6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22960" y="48371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AI 加速的是「把範圍縮小」，不是「做出判讀」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148072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它能在幾小時內從 400 萬個變異裡挑出幾十個值得看的，但哪一個對這位病人有臨床意義，仍然要由醫師判斷。本平台在這條鏈路上的定位是提供可追溯的候選清單與線索，正式提供醫療建議前仍需醫師／專業人員審核。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本平台為科研輔助工具。所有關聯均為公開資料庫的統計與註記關聯，不作為醫療診斷或治療建議。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健保 NGS 擴大給付，與本平台如何從基因報告走到中藥分子</dc:title>
  <dc:subject>PptxGenJS Presentation</dc:subject>
  <dc:creator>中藥腫瘤篩選平台</dc:creator>
  <cp:lastModifiedBy>中藥腫瘤篩選平台</cp:lastModifiedBy>
  <cp:revision>1</cp:revision>
  <dcterms:created xsi:type="dcterms:W3CDTF">2026-09-17T11:37:03Z</dcterms:created>
  <dcterms:modified xsi:type="dcterms:W3CDTF">2026-09-17T11:37:03Z</dcterms:modified>
</cp:coreProperties>
</file>