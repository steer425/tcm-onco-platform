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1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2.xml" ContentType="application/vnd.openxmlformats-officedocument.drawingml.chart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charts/chart3.xml" ContentType="application/vnd.openxmlformats-officedocument.drawingml.chart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權重</c:v>
                </c:pt>
              </c:strCache>
            </c:strRef>
          </c:tx>
          <c:spPr>
            <a:solidFill>
              <a:srgbClr val="C99A3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30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9A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939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A9D6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A9D6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A9D6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A9D63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安全訊號加成</c:v>
                  </c:pt>
                  <c:pt idx="1">
                    <c:v>時效性</c:v>
                  </c:pt>
                  <c:pt idx="2">
                    <c:v>研究設計</c:v>
                  </c:pt>
                  <c:pt idx="3">
                    <c:v>證據成熟度</c:v>
                  </c:pt>
                  <c:pt idx="4">
                    <c:v>來源權威度</c:v>
                  </c:pt>
                  <c:pt idx="5">
                    <c:v>主題相關度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0.12</c:v>
                </c:pt>
                <c:pt idx="1">
                  <c:v>0.12</c:v>
                </c:pt>
                <c:pt idx="2">
                  <c:v>0.16</c:v>
                </c:pt>
                <c:pt idx="3">
                  <c:v>0.2</c:v>
                </c:pt>
                <c:pt idx="4">
                  <c:v>0.22</c:v>
                </c:pt>
                <c:pt idx="5">
                  <c:v>0.3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430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430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6"/>
          <c:min val="0"/>
        </c:scaling>
        <c:delete val="0"/>
        <c:axPos val="b"/>
        <c:majorGridlines>
          <c:spPr>
            <a:ln w="12700" cap="flat">
              <a:solidFill>
                <a:srgbClr val="E4E9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3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癌症基因比對率</c:v>
                </c:pt>
              </c:strCache>
            </c:strRef>
          </c:tx>
          <c:spPr>
            <a:solidFill>
              <a:srgbClr val="8A939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1430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939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A9D63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標準化前</c:v>
                  </c:pt>
                  <c:pt idx="1">
                    <c:v>標準化後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2.6</c:v>
                </c:pt>
                <c:pt idx="1">
                  <c:v>18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600" u="none">
                  <a:solidFill>
                    <a:srgbClr val="1430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430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"/>
        </c:scaling>
        <c:delete val="0"/>
        <c:axPos val="l"/>
        <c:majorGridlines>
          <c:spPr>
            <a:ln w="12700" cap="flat">
              <a:solidFill>
                <a:srgbClr val="E4E9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3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處理狀態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A9D63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C99A3D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C0533E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自動採用 17</c:v>
                </c:pt>
                <c:pt idx="1">
                  <c:v>待確認 4</c:v>
                </c:pt>
                <c:pt idx="2">
                  <c:v>查無結果 1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17</c:v>
                </c:pt>
                <c:pt idx="1">
                  <c:v>4</c:v>
                </c:pt>
                <c:pt idx="2">
                  <c:v>1</c:v>
                </c:pt>
              </c:numCache>
            </c:numRef>
          </c:val>
        </c:ser>
        <c:firstSliceAng val="0"/>
        <c:holeSize val="5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4302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本簡報對應同日的完整說明報告。五項功能：新聞管理、可編碼蛋白區、通路富集分析、靶點標準化、成分標準化。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人參 190 種成分、22 種通過 ADME 篩選、118 個對應靶點，都是平台實測數字。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4.5 站（通路）在簡報中併為第 5 站呈現，細胞驗證為第 6 站。研究報告站尚未開始，未列入。後接六頁名詞詳解。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入口站。強調藥材＝混合物，以及 TCMSP 清單是文獻彙整而非批次實測。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OB／DL 門檻是 TCMSP 的通用慣例。人參皂苷被刷掉這件事一定要講，否則讀者會質疑名單的可信度。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118 這個數字有三條獨立路徑交叉驗證過。舊文件寫的 109 已判定過時。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免責聲明在這一站最關鍵。任何對外文件都不得把靶點—疾病關聯寫成治療效果。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細胞凋亡 hsa04215：6/32 命中、19.2 倍、q=4.91e-6。肝代謝那條是安全訊號，不是抗腫瘤機轉。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BCL2 於 OCI-LY-19：−2.62、9 株強依賴。CASP8 為 n=1 的線索，不可與 BCL2 並列。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這一段是把前面六站的概念，用實際畫面走一次。對象是沒有操作過系統的人。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畫面下方的「疾病：乳癌」就是自動標出來的標籤。橘色那條「解讀注意」是系統對文獻計量類研究的固定提醒：這類研究無法推論臨床療效。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這一頁走的是反向路徑：疾病 → 靶點 → 成分 → 藥材。左側可切換 564 種疾病。三個數字是逐層關係，關掉上層會自動鎖定下層。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這張圖刻意放進來。先看到「全展開等於看不懂」，下一頁的篩選功能才有意義。紅＝疾病、綠＝靶點、藍＝成分、黃＝藥材。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數字是即時重算的，不是預先算好的組合。每個靶點後面的「N 個成分」可以先判斷這個靶點會帶出多大的圖。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這就是「中藥 → 成分 → 靶點 → 疾病」那條生產線反過來走。圖上每個節點都可以點開看原始資料。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要留意措辭：這八味是「含有 FMT 這個成分」的藥材，不是「治療乳癌的八味藥」。平台提供的是查證起點，不是結論。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8 筆 Aposiopolamine 顯示「查無結果」，三個欄位都是叉——系統如實呈現失敗，不用猜測值填補。欄位名稱旁的驚嘆號可點開看該編號的定義。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小結頁的重點在紅框：示範很有說服力，但它證明的是「查得快、查得全、可追溯」，不是療效。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五項對應第 2、3、4、4.5 站，加上橫跨全流程的新聞情報監測。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圖上的成分名稱與 CID 取自平台實際畫面，靶點為人參 118 個靶點中的三個代表。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_qt 是苷元（aglycone）不是 quantitative。剝掉它等於去查帶糖基的母體苷，正好是 TCMSP 不要的那一個。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18% 已接近真實上限：TCMSP 偏向可成藥蛋白，癌症基因清單裡有大量目前無法用藥物作用的轉錄因子。硬追會製造假關聯。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math.comb 再取 log 也不行：C(20000,300) 整數算得出來，但取 log 前就先溢位成 inf。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DNA 複製是整條染色體一起複製，98% 也照樣複製——不要說「那 2% 是細胞複製的來源」。2% 負責產出蛋白質，98% 裡的調控元件負責決定哪些基因何時開啟。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「暗黑基因」一詞泛指長期少有人研究的基因；平台以 OncoKB 的癌症基因清單作為實作來源。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PubChem 與 UniProt 是逐筆查詢，其餘是整包下載。逐筆的那兩個從開發沙箱連不到，必須在正式環境執行。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安全訊號優先是平台定位的核心：科研輔助與安全監測，不是療效推薦。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2026-09-15 實測：抓取 49 篇、過濾 33、重複 16，10 個來源全數正常，10.5 秒完成。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來源清單依《中藥與腫瘤｜10 個權威官方追蹤網站》整理。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資料量差異造成設計差異：暗黑基因可整包載入瀏覽器，GenCC 必須改成搜尋驅動。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1,751 個靶點中 1,573 個是含空白的全名，只有 4 個長得像基因代號。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18.0% = 224/1245。標準化覆蓋 1265/1751。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使用超幾何檢定 + Benjamini–Hochberg 校正，測試以精確有理數運算對照，最大誤差 7.8e-13。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細胞凋亡 hsa04215：6/32 命中、19.2 倍、q=4.91e-6。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驗算刻意分三種結果：相符、不符、無法驗證。把缺資料當成通過等於讓驗證形同虛設。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完整 22 種清單與逐項說明見報告第八章。三筆苷元誤配為全庫 81 筆同類問題的縮影。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這些判讀規範已全部寫進平台開發規範文件，並建立對應的自動測試。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 項優先度最高：錯誤分子一旦進入資料庫不會報錯，且會污染下游所有分析。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463040"/>
            <a:ext cx="4754880" cy="4754880"/>
          </a:xfrm>
          <a:prstGeom prst="ellipse">
            <a:avLst/>
          </a:prstGeom>
          <a:solidFill>
            <a:srgbClr val="1E4433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480560"/>
            <a:ext cx="2377440" cy="2377440"/>
          </a:xfrm>
          <a:prstGeom prst="ellipse">
            <a:avLst/>
          </a:prstGeom>
          <a:solidFill>
            <a:srgbClr val="1E4433"/>
          </a:solidFill>
          <a:ln/>
        </p:spPr>
      </p:sp>
      <p:sp>
        <p:nvSpPr>
          <p:cNvPr id="4" name="Shape 2"/>
          <p:cNvSpPr/>
          <p:nvPr/>
        </p:nvSpPr>
        <p:spPr>
          <a:xfrm>
            <a:off x="841248" y="1417320"/>
            <a:ext cx="237744" cy="237744"/>
          </a:xfrm>
          <a:prstGeom prst="ellipse">
            <a:avLst/>
          </a:prstGeom>
          <a:solidFill>
            <a:srgbClr val="C99A3D"/>
          </a:solidFill>
          <a:ln/>
        </p:spPr>
      </p:sp>
      <p:sp>
        <p:nvSpPr>
          <p:cNvPr id="5" name="Shape 3"/>
          <p:cNvSpPr/>
          <p:nvPr/>
        </p:nvSpPr>
        <p:spPr>
          <a:xfrm>
            <a:off x="1225296" y="1417320"/>
            <a:ext cx="237744" cy="237744"/>
          </a:xfrm>
          <a:prstGeom prst="ellipse">
            <a:avLst/>
          </a:prstGeom>
          <a:solidFill>
            <a:srgbClr val="3B82C4"/>
          </a:solidFill>
          <a:ln/>
        </p:spPr>
      </p:sp>
      <p:sp>
        <p:nvSpPr>
          <p:cNvPr id="6" name="Shape 4"/>
          <p:cNvSpPr/>
          <p:nvPr/>
        </p:nvSpPr>
        <p:spPr>
          <a:xfrm>
            <a:off x="1609344" y="1417320"/>
            <a:ext cx="237744" cy="237744"/>
          </a:xfrm>
          <a:prstGeom prst="ellipse">
            <a:avLst/>
          </a:prstGeom>
          <a:solidFill>
            <a:srgbClr val="3A9D63"/>
          </a:solidFill>
          <a:ln/>
        </p:spPr>
      </p:sp>
      <p:sp>
        <p:nvSpPr>
          <p:cNvPr id="7" name="Shape 5"/>
          <p:cNvSpPr/>
          <p:nvPr/>
        </p:nvSpPr>
        <p:spPr>
          <a:xfrm>
            <a:off x="1993392" y="1417320"/>
            <a:ext cx="237744" cy="237744"/>
          </a:xfrm>
          <a:prstGeom prst="ellipse">
            <a:avLst/>
          </a:prstGeom>
          <a:solidFill>
            <a:srgbClr val="C0533E"/>
          </a:solidFill>
          <a:ln/>
        </p:spPr>
      </p:sp>
      <p:sp>
        <p:nvSpPr>
          <p:cNvPr id="8" name="Shape 6"/>
          <p:cNvSpPr/>
          <p:nvPr/>
        </p:nvSpPr>
        <p:spPr>
          <a:xfrm>
            <a:off x="2377440" y="1417320"/>
            <a:ext cx="237744" cy="237744"/>
          </a:xfrm>
          <a:prstGeom prst="ellipse">
            <a:avLst/>
          </a:prstGeom>
          <a:solidFill>
            <a:srgbClr val="8B5FB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19659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中藥腫瘤篩選平台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8803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99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開發進度說明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3794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給一般讀者的簡報　—　用白話解釋我們做了什麼、為什麼要做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5394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 9 月 16 日（第二版：增補六站名詞詳解）　｜　正式環境版本 v1.42.1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" y="5779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科研輔助工具　·　不作為醫療診斷或治療建議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先講清楚問題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一味中藥，要拆成幾層才看得懂？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20116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B82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190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90779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人參登錄的化學成分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0" y="187452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434840" y="20116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99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290779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人體真正吸收得了的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38160" y="187452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183880" y="20116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A9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118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8183880" y="290779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這些成分作用的蛋白質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977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一味藥裡有幾十到幾百種成分，每種成分又可能作用在好幾種蛋白質上。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389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用手工整理，一個人光一味藥就要好幾個月，而且</a:t>
            </a:r>
            <a:pPr indent="0" marL="0">
              <a:buNone/>
            </a:pPr>
            <a:r>
              <a:rPr lang="en-US" sz="180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每個人整理出來的結果還可能不一樣</a:t>
            </a:r>
            <a:pPr indent="0" marL="0">
              <a:buNone/>
            </a:pPr>
            <a:r>
              <a:rPr lang="en-US" sz="18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——因為各個資料庫用的名字、格式都不同。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51206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EAF2EC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53492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這個平台要做的，就是把這件事變成一條可以重複、可以被檢查的自動化流程。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平台架構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整條流程像一條生產線，共六站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2011680"/>
            <a:ext cx="1691640" cy="2514600"/>
          </a:xfrm>
          <a:prstGeom prst="roundRect">
            <a:avLst>
              <a:gd name="adj" fmla="val 432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240280"/>
            <a:ext cx="502920" cy="502920"/>
          </a:xfrm>
          <a:prstGeom prst="ellipse">
            <a:avLst/>
          </a:prstGeom>
          <a:solidFill>
            <a:srgbClr val="C99A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231800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8803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中藥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2461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這味藥有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哪些成分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40416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28346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423160" y="2011680"/>
            <a:ext cx="1691640" cy="2514600"/>
          </a:xfrm>
          <a:prstGeom prst="roundRect">
            <a:avLst>
              <a:gd name="adj" fmla="val 432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17520" y="2240280"/>
            <a:ext cx="502920" cy="502920"/>
          </a:xfrm>
          <a:prstGeom prst="ellipse">
            <a:avLst/>
          </a:prstGeom>
          <a:solidFill>
            <a:srgbClr val="3B82C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017520" y="231800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423160" y="28803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成分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2514600" y="32461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結構長怎樣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吸收得了嗎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423160" y="40416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0" y="28346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343400" y="2011680"/>
            <a:ext cx="1691640" cy="2514600"/>
          </a:xfrm>
          <a:prstGeom prst="roundRect">
            <a:avLst>
              <a:gd name="adj" fmla="val 432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2240280"/>
            <a:ext cx="502920" cy="502920"/>
          </a:xfrm>
          <a:prstGeom prst="ellipse">
            <a:avLst/>
          </a:prstGeom>
          <a:solidFill>
            <a:srgbClr val="3A9D6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937760" y="231800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343400" y="28803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靶點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434840" y="32461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會接到哪些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蛋白質上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343400" y="40416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035040" y="28346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263640" y="2011680"/>
            <a:ext cx="1691640" cy="2514600"/>
          </a:xfrm>
          <a:prstGeom prst="roundRect">
            <a:avLst>
              <a:gd name="adj" fmla="val 432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58000" y="2240280"/>
            <a:ext cx="502920" cy="502920"/>
          </a:xfrm>
          <a:prstGeom prst="ellipse">
            <a:avLst/>
          </a:prstGeom>
          <a:solidFill>
            <a:srgbClr val="C0533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58000" y="231800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263640" y="28803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疾病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6355080" y="32461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跟哪些疾病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有關聯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263640" y="40416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955280" y="28346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8183880" y="2011680"/>
            <a:ext cx="1691640" cy="2514600"/>
          </a:xfrm>
          <a:prstGeom prst="roundRect">
            <a:avLst>
              <a:gd name="adj" fmla="val 432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778240" y="2240280"/>
            <a:ext cx="502920" cy="502920"/>
          </a:xfrm>
          <a:prstGeom prst="ellipse">
            <a:avLst/>
          </a:prstGeom>
          <a:solidFill>
            <a:srgbClr val="8B5FB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778240" y="231800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8183880" y="28803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通路</a:t>
            </a:r>
            <a:endParaRPr lang="en-US" sz="1700" dirty="0"/>
          </a:p>
        </p:txBody>
      </p:sp>
      <p:sp>
        <p:nvSpPr>
          <p:cNvPr id="36" name="Text 34"/>
          <p:cNvSpPr txBox="1"/>
          <p:nvPr/>
        </p:nvSpPr>
        <p:spPr>
          <a:xfrm>
            <a:off x="8275320" y="32461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是否集中在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同一條路線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183880" y="40416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9875520" y="28346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10104120" y="2011680"/>
            <a:ext cx="1691640" cy="2514600"/>
          </a:xfrm>
          <a:prstGeom prst="roundRect">
            <a:avLst>
              <a:gd name="adj" fmla="val 432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10698480" y="2240280"/>
            <a:ext cx="502920" cy="502920"/>
          </a:xfrm>
          <a:prstGeom prst="ellipse">
            <a:avLst/>
          </a:prstGeom>
          <a:solidFill>
            <a:srgbClr val="4A7C8C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10698480" y="231800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10104120" y="28803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細胞驗證</a:t>
            </a:r>
            <a:endParaRPr lang="en-US" sz="1700" dirty="0"/>
          </a:p>
        </p:txBody>
      </p:sp>
      <p:sp>
        <p:nvSpPr>
          <p:cNvPr id="43" name="Text 41"/>
          <p:cNvSpPr txBox="1"/>
          <p:nvPr/>
        </p:nvSpPr>
        <p:spPr>
          <a:xfrm>
            <a:off x="10195560" y="32461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癌細胞真的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活不下去嗎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10104120" y="40416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資料完成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02920" y="4892040"/>
            <a:ext cx="11155680" cy="1143000"/>
          </a:xfrm>
          <a:prstGeom prst="roundRect">
            <a:avLst>
              <a:gd name="adj" fmla="val 6400"/>
            </a:avLst>
          </a:prstGeom>
          <a:solidFill>
            <a:srgbClr val="FBF4E6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46" name="Text 44"/>
          <p:cNvSpPr txBox="1"/>
          <p:nvPr/>
        </p:nvSpPr>
        <p:spPr>
          <a:xfrm>
            <a:off x="777240" y="504748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為什麼順序不能顛倒？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777240" y="537667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沒有先把蛋白質的名字統一（第 3 站），第 5 站的通路分析就沒有正確的輸入；沒有通路分析給出的機轉假說，第 6 站的細胞實驗資料只會是一堆看不懂的數字。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502920" y="614476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接下來六頁，逐站說明每個名詞的定義、資料長什麼樣，以及最容易被誤解的地方。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站　名詞詳解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中藥：一味藥不是一個分子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FBF4E6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59105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英文　Herb（藥材）／ Medicinal material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883664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中醫使用的天然藥用材料，通常是植物的特定部位（根、莖、葉、花、果實），也可能來自動物或礦物。平台裡的一筆「中藥」，就是 TCMSP 收錄的一味藥材。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2724912"/>
            <a:ext cx="5394960" cy="1627632"/>
          </a:xfrm>
          <a:prstGeom prst="roundRect">
            <a:avLst>
              <a:gd name="adj" fmla="val 449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8529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資料長什麼樣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63824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TCMSP 共收錄 499 味藥材。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人參（Panax ginseng，平台編號 336）是本階段指定的驗證藥材，底下登錄了 190 種化學成分。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每味藥材都帶中文名、拼音與拉丁學名。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724912"/>
            <a:ext cx="5394960" cy="1627632"/>
          </a:xfrm>
          <a:prstGeom prst="roundRect">
            <a:avLst>
              <a:gd name="adj" fmla="val 449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92240" y="28529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這一站在做什麼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163824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把「一味藥」攤開成「一份成分清單」。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這是整條生產線的入口：後面所有的靶點、疾病、通路、細胞分析，追到底都是從這份清單長出來的。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517136"/>
            <a:ext cx="11064240" cy="1481328"/>
          </a:xfrm>
          <a:prstGeom prst="roundRect">
            <a:avLst>
              <a:gd name="adj" fmla="val 4938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464515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最容易誤解的地方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956048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一味藥材是幾十到幾百個分子的混合物，不是單一藥物。所以嚴格來說不能講「人參抗癌」，只能問「人參裡的哪一個分子、作用在哪個蛋白質上」。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另外，同樣叫人參，基原、產地與炮製方式不同，實際成分可以差很多。TCMSP 給的是一份文獻彙整的代表性清單，不是某一批藥材的實測結果。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資料來源：TCMSP（Traditional Chinese Medicine Systems Pharmacology Database）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站　名詞詳解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成分：分子本身，以及它吸收得了嗎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E9F1F8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59105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英文　Compound / Ingredient（化學成分、化合物）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883664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藥材裡一個個具體的化學分子。每個分子有自己的結構、分子量與吸收特性——真正能產生藥理作用的是分子，不是藥材。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2724912"/>
            <a:ext cx="5394960" cy="1627632"/>
          </a:xfrm>
          <a:prstGeom prst="roundRect">
            <a:avLst>
              <a:gd name="adj" fmla="val 449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8529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資料長什麼樣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63824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TCMSP 共收錄 29,384 種成分。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人參的 190 種成分，通過兩道吸收門檻後剩下 22 種，這 22 種才是後續分析的母體。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每個成分都要對應到國際化學編號（CID／InChIKey／CAS）。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724912"/>
            <a:ext cx="5394960" cy="1627632"/>
          </a:xfrm>
          <a:prstGeom prst="roundRect">
            <a:avLst>
              <a:gd name="adj" fmla="val 449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92240" y="28529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這一站在做什麼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163824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兩道 ADME 門檻：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OB ≥ 30%　口服生物利用度，吃下去後真正進到血液的比例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DL ≥ 0.18　類藥性，結構像不像已知藥物（0～1）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再把 TCMSP 自有編號換成國際通用編號。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517136"/>
            <a:ext cx="11064240" cy="1481328"/>
          </a:xfrm>
          <a:prstGeom prst="roundRect">
            <a:avLst>
              <a:gd name="adj" fmla="val 4938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464515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最容易誤解的地方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956048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「活性成分」指的是「在藥理模型上算得過門檻的成分」，不等於「臨床上有效」。這是計算篩選，不是療效證據。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要誠實說明的一點：人參最有名的人參皂苷，大多不在這 22 種裡——它們分子太大、口服吸收率低，第一道門檻就被刷掉了。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資料來源：TCMSP（ADME 參數）、PubChem（結構與編號）　·　ADME＝吸收、分布、代謝、排泄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站　名詞詳解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靶點：分子在體內接到哪台機器上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EAF2EC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59105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英文　Target / Protein target（蛋白質靶點）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883664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成分在體內實際接觸、並改變其行為的蛋白質。蛋白質是細胞裡真正幹活的機器，絕大多數藥物都是透過改變某個蛋白質的行為來起作用。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2724912"/>
            <a:ext cx="5394960" cy="1627632"/>
          </a:xfrm>
          <a:prstGeom prst="roundRect">
            <a:avLst>
              <a:gd name="adj" fmla="val 449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8529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資料長什麼樣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63824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TCMSP 共收錄 3,311 個靶點。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人參的 22 個活性成分，合計對應到 118 個不重複的靶點。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每個靶點都要對到 UniProt 編號——蛋白質的國際標準身分證。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724912"/>
            <a:ext cx="5394960" cy="1627632"/>
          </a:xfrm>
          <a:prstGeom prst="roundRect">
            <a:avLst>
              <a:gd name="adj" fmla="val 449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92240" y="28529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這一站在做什麼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163824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把各家資料庫對同一個蛋白質的不同叫法統一。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同一個蛋白在不同文獻可能有三、四個名字；不統一就會把同一個東西算成好幾個，後面的通路分析整個歪掉。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517136"/>
            <a:ext cx="11064240" cy="1481328"/>
          </a:xfrm>
          <a:prstGeom prst="roundRect">
            <a:avLst>
              <a:gd name="adj" fmla="val 4938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464515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最容易誤解的地方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956048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TCMSP 的「成分—靶點」關聯有相當比例來自分子對接（molecular docking）的電腦預測，不是實驗測到的結合。這一點在引用時必須說明。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還有一個違反直覺的重點：命中的靶點數多通常不是好消息——那代表這個成分到處亂碰，選擇性差、副作用風險高。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資料來源：TCMSP（成分—靶點關聯）、UniProt（蛋白質標準化）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站　名詞詳解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疾病：關聯是怎麼連過去的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59105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英文　Disease（疾病）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883664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與該靶點有文獻關聯的疾病。連結路徑固定是「成分 → 靶點 → 疾病」，中間一定要經過靶點——成分與疾病之間沒有直接的連線。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2724912"/>
            <a:ext cx="5394960" cy="1627632"/>
          </a:xfrm>
          <a:prstGeom prst="roundRect">
            <a:avLst>
              <a:gd name="adj" fmla="val 449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8529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資料長什麼樣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63824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TCMSP 共收錄 837 種相關疾病。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每種疾病帶 ICD-9 與 ICD-10 國際疾病分類碼，可以跟醫院端的病歷系統與其他醫療資料庫對照。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原始資料只有英文名稱，中文為平台另行整理。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724912"/>
            <a:ext cx="5394960" cy="1627632"/>
          </a:xfrm>
          <a:prstGeom prst="roundRect">
            <a:avLst>
              <a:gd name="adj" fmla="val 449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92240" y="28529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這一站在做什麼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163824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回答「這些蛋白質，過去被哪些疾病的研究提到過」。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它提供的是文獻線索的方向，用來決定下一步要往哪個癌別、哪類細胞株去查證。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517136"/>
            <a:ext cx="11064240" cy="1481328"/>
          </a:xfrm>
          <a:prstGeom prst="roundRect">
            <a:avLst>
              <a:gd name="adj" fmla="val 4938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464515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最容易誤解的地方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956048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這一站最容易被過度解讀：「有關聯」不等於「能治療」。資料庫記的是「這個蛋白質在這個疾病裡被研究過」，方向可能是致病機轉、也可能是治療標的，資料本身並不區分。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平台一律把它標示為研究線索，不得寫成療效主張——這是本平台定位為科研輔助工具的界線所在。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資料來源：TCMSP（靶點—疾病關聯）、WHO ICD-9／ICD-10 疾病分類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站　名詞詳解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通路：體內的生產線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F1EBF8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59105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英文　Pathway（生物通路）／ Signaling pathway（訊號傳導通路）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883664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細胞裡一連串按順序發生的反應，像一條生產線：A 蛋白活化 B、B 再活化 C，一路傳下去完成一件事——例如讓細胞分裂、啟動細胞凋亡，或代謝掉一個外來物質。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2724912"/>
            <a:ext cx="5394960" cy="1627632"/>
          </a:xfrm>
          <a:prstGeom prst="roundRect">
            <a:avLst>
              <a:gd name="adj" fmla="val 449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8529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資料長什麼樣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63824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兩大國際通路資料庫：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KEGG PATHWAY（日本京都大學）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Reactome（歐洲生物資訊研究所等單位共同維護）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文獻上常見的 MAPK、PI3K-Akt、p53，都是個別生產線的名字。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724912"/>
            <a:ext cx="5394960" cy="1627632"/>
          </a:xfrm>
          <a:prstGeom prst="roundRect">
            <a:avLst>
              <a:gd name="adj" fmla="val 449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92240" y="28529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這一站在做什麼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163824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通路富集分析（pathway enrichment analysis）：問「這些靶點是不是特別集中在某幾條生產線上」。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用超幾何檢定計算集中程度，再用 BH 法校正多重檢定。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人參結果：細胞凋亡通路 19.2 倍，統計上顯著。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517136"/>
            <a:ext cx="11064240" cy="1481328"/>
          </a:xfrm>
          <a:prstGeom prst="roundRect">
            <a:avLst>
              <a:gd name="adj" fmla="val 4938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464515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最容易誤解的地方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956048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一次對好幾千條路線做檢定，就算資料全是雜訊，也會有一百多條「看起來顯著」。這是機率問題，不是發現——所以一律只看校正後的數值。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還有一個陷阱：路線的名字不等於它的內容。人參另一條顯著的路線叫「化學致癌物受體活化」，聽起來像癌症通路，實際命中的卻是肝臟代謝酵素。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資料來源：KEGG PATHWAY、Reactome　·　統計方法：超幾何檢定 + Benjamini–Hochberg FDR 校正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站　名詞詳解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細胞驗證：關掉這個基因，癌細胞活不活得下去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E8F0F2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59105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4A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英文　Cell line validation / Gene dependency（細胞株驗證、基因依賴性）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883664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拿真實的癌細胞株實驗資料，檢查「把這個靶點的基因關掉之後，癌細胞是不是真的活不下去」。前面五站都是資料庫的關聯推論，這一站第一次接上實際的細胞實驗結果。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2724912"/>
            <a:ext cx="5394960" cy="1627632"/>
          </a:xfrm>
          <a:prstGeom prst="roundRect">
            <a:avLst>
              <a:gd name="adj" fmla="val 449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8529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資料長什麼樣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63824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DepMap 24Q2 Public：1,208 株癌細胞、1,239 個基因、130,865 筆依賴配對。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人參的 118 個靶點裡，105 個在 DepMap 查得到資料，扣掉 2 個泛必需基因後，有 70 個呈現選擇性依賴。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724912"/>
            <a:ext cx="5394960" cy="1627632"/>
          </a:xfrm>
          <a:prstGeom prst="roundRect">
            <a:avLst>
              <a:gd name="adj" fmla="val 449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92240" y="28529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這一站在做什麼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163824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先扣掉泛必需基因（common essential）——那 96 個基因佔了全部依賴配對的 71.1%，是「細胞活著就需要」的基因。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不先扣掉，排出來的是必需性，不是選擇性。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扣掉後人參最強的是 BCL2（效應 −2.62）。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517136"/>
            <a:ext cx="11064240" cy="1481328"/>
          </a:xfrm>
          <a:prstGeom prst="roundRect">
            <a:avLst>
              <a:gd name="adj" fmla="val 4938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464515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最容易誤解的地方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956048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這不是「人參能治這些癌」。這張表只說明：TCMSP 把這些成分註記為作用於這些靶點，而這些靶點在那些細胞株上是選擇性依賴。兩件事之間還缺實際的結合與活性驗證。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可以說的是另一件事：平台在未被告知的情況下，獨立重現了 BCL2、ERG、AR 這幾組教科書等級的已知依賴關係——這是整條鏈路目前最強的外部效度證據。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資料來源：DepMap 24Q2 Public（CC BY 4.0，引用時須標註釋出版本）　·　GDSC 因授權條款限制未納入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3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280160"/>
            <a:ext cx="4206240" cy="4206240"/>
          </a:xfrm>
          <a:prstGeom prst="ellipse">
            <a:avLst/>
          </a:prstGeom>
          <a:solidFill>
            <a:srgbClr val="1E44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1488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實際操作示範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30175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從一則新聞裡的兩個字，走到一份可以拿去驗證的名單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37490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7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以下七張都是系統實機畫面（2026-09-15 的資料）。整段操作只需要四次點擊，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C7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不需要打任何一行程式，也不需要事先知道乳癌跟哪些蛋白質有關。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實際操作示範　步驟 1／7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起點：一則新聞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926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2026/9/15 的每日重點新聞裡，有一篇關於乳癌的中成藥文獻研究。系統會自動標出文章裡出現、而且平台已收錄的資料元——中藥名稱、蛋白質、靶點、分子、疾病，標成可點擊的標籤。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35024" y="1426464"/>
            <a:ext cx="9491472" cy="4983480"/>
          </a:xfrm>
          <a:prstGeom prst="roundRect">
            <a:avLst>
              <a:gd name="adj" fmla="val 1468"/>
            </a:avLst>
          </a:prstGeom>
          <a:solidFill>
            <a:srgbClr val="E4EAE6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pic>
        <p:nvPicPr>
          <p:cNvPr id="6" name="Image 0" descr="/home/claude/report/demo/img/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888" y="1481328"/>
            <a:ext cx="9381744" cy="487375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實際操作示範　步驟 2／7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點一下標籤，反向查出整組關聯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926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點「疾病：乳癌」直接開啟 TCMSP 疾病關聯查詢站。系統自動帶出：乳癌有 16 個蛋白質靶點、3,911 種相關成分、498 味相關中藥，並附上 ICD9（174、175）與 ICD10（C50）國際疾病代碼。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50976" y="1426464"/>
            <a:ext cx="10268712" cy="4983480"/>
          </a:xfrm>
          <a:prstGeom prst="roundRect">
            <a:avLst>
              <a:gd name="adj" fmla="val 1468"/>
            </a:avLst>
          </a:prstGeom>
          <a:solidFill>
            <a:srgbClr val="E4EAE6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pic>
        <p:nvPicPr>
          <p:cNvPr id="6" name="Image 0" descr="/home/claude/report/demo/img/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481328"/>
            <a:ext cx="10158984" cy="487375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實際操作示範　步驟 3／7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全部展開是這個樣子——看不出東西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926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16 個靶點連同底下的成分與藥材一次畫出來，就是這張圖。這不是系統做壞了，而是真實的資料量：一個疾病牽涉的關聯本來就這麼密，這也正是為什麼需要下一步的篩選。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93776" y="1426464"/>
            <a:ext cx="11173968" cy="4626864"/>
          </a:xfrm>
          <a:prstGeom prst="roundRect">
            <a:avLst>
              <a:gd name="adj" fmla="val 1581"/>
            </a:avLst>
          </a:prstGeom>
          <a:solidFill>
            <a:srgbClr val="E4EAE6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pic>
        <p:nvPicPr>
          <p:cNvPr id="6" name="Image 0" descr="/home/claude/report/demo/img/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11064240" cy="451713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實際操作示範　步驟 4／7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只留下想看的三個靶點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926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左側清單可逐一勾選。這裡只留下 G1/S-specific cyclin D1、Dual specificity MAP kinase kinase 1、C-X-C chemokine receptor type 4 三個靶點，上方數字立刻跟著縮成 3 個靶點、7 種成分、18 味藥材。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89888" y="1426464"/>
            <a:ext cx="9381744" cy="4983480"/>
          </a:xfrm>
          <a:prstGeom prst="roundRect">
            <a:avLst>
              <a:gd name="adj" fmla="val 1468"/>
            </a:avLst>
          </a:prstGeom>
          <a:solidFill>
            <a:srgbClr val="E4EAE6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pic>
        <p:nvPicPr>
          <p:cNvPr id="6" name="Image 0" descr="/home/claude/report/demo/img/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4752" y="1481328"/>
            <a:ext cx="9272016" cy="48737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實際操作示範　步驟 5／7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同一張圖，現在讀得懂了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926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中間紅色是乳癌，綠色是三個靶點，藍色是成分，黃色是藥材。每一條線都是一筆有出處的關聯，沒有任何一條是系統自己補的。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09344" y="1426464"/>
            <a:ext cx="8933688" cy="4983480"/>
          </a:xfrm>
          <a:prstGeom prst="roundRect">
            <a:avLst>
              <a:gd name="adj" fmla="val 1468"/>
            </a:avLst>
          </a:prstGeom>
          <a:solidFill>
            <a:srgbClr val="E4EAE6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pic>
        <p:nvPicPr>
          <p:cNvPr id="6" name="Image 0" descr="/home/claude/report/demo/img/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4208" y="1481328"/>
            <a:ext cx="8823960" cy="487375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實際操作示範　步驟 6／7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放大之後，一個成分背後有八味藥材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926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圖可以放大逐一檢視。例如成分 FMT 一個節點，連出去是斑蝥、蒲黃、玉米鬚、桑椹、麻黃、百部、竹瀝、白果八味藥材——這份清單可以直接交給研究人員做後續查證。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24712" y="1426464"/>
            <a:ext cx="9912096" cy="4983480"/>
          </a:xfrm>
          <a:prstGeom prst="roundRect">
            <a:avLst>
              <a:gd name="adj" fmla="val 1468"/>
            </a:avLst>
          </a:prstGeom>
          <a:solidFill>
            <a:srgbClr val="E4EAE6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pic>
        <p:nvPicPr>
          <p:cNvPr id="6" name="Image 0" descr="/home/claude/report/demo/img/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1481328"/>
            <a:ext cx="9802368" cy="487375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實際操作示範　步驟 7／7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換個方向：一味藥材的分子，逐筆攤開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926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以人參為例：190 個全部成分、22 個活性成分、17 個已完成結構標準化（77.3%），SMILES／CAS／InChIKey 各 17 筆，ADME 缺值 0 筆。下方逐筆列出每個分子的編號、OB、DL、分子量與國際編號。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69264" y="1426464"/>
            <a:ext cx="10222992" cy="4983480"/>
          </a:xfrm>
          <a:prstGeom prst="roundRect">
            <a:avLst>
              <a:gd name="adj" fmla="val 1468"/>
            </a:avLst>
          </a:prstGeom>
          <a:solidFill>
            <a:srgbClr val="E4EAE6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pic>
        <p:nvPicPr>
          <p:cNvPr id="6" name="Image 0" descr="/home/claude/report/demo/img/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481328"/>
            <a:ext cx="10113264" cy="487375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實際操作示範　小結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這段示範證明了什麼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383280" cy="2057400"/>
          </a:xfrm>
          <a:prstGeom prst="roundRect">
            <a:avLst>
              <a:gd name="adj" fmla="val 3556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84708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99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700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次點擊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17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從新聞裡的一個詞，</a:t>
            </a:r>
            <a:endParaRPr lang="en-US" sz="11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到一份具體的藥材名單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737360"/>
            <a:ext cx="3383280" cy="2057400"/>
          </a:xfrm>
          <a:prstGeom prst="roundRect">
            <a:avLst>
              <a:gd name="adj" fmla="val 3556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434840" y="184708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B82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26700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行程式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3017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不需要寫查詢語法，</a:t>
            </a:r>
            <a:endParaRPr lang="en-US" sz="11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也不需要事先懂生物資訊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737360"/>
            <a:ext cx="3383280" cy="2057400"/>
          </a:xfrm>
          <a:prstGeom prst="roundRect">
            <a:avLst>
              <a:gd name="adj" fmla="val 3556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183880" y="184708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A9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600" dirty="0"/>
          </a:p>
        </p:txBody>
      </p:sp>
      <p:sp>
        <p:nvSpPr>
          <p:cNvPr id="14" name="Text 12"/>
          <p:cNvSpPr txBox="1"/>
          <p:nvPr/>
        </p:nvSpPr>
        <p:spPr>
          <a:xfrm>
            <a:off x="8183880" y="26700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可追溯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3017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圖上每一條線都能點回</a:t>
            </a:r>
            <a:endParaRPr lang="en-US" sz="11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原始資料庫的那一筆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97764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EAF2EC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4400" y="418795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手工做同樣一件事，要開四、五個網站、逐一比對名稱，一個人一味藥就要好幾個月——而且每個人比對出來的結果還不一定一樣。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5193792"/>
            <a:ext cx="10881360" cy="1170432"/>
          </a:xfrm>
          <a:prstGeom prst="roundRect">
            <a:avLst>
              <a:gd name="adj" fmla="val 6250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14400" y="534924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但要說清楚這段示範沒有證明什麼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56692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它沒有證明那八味藥材對乳癌有效。畫面上的每一條線都是「公開資料庫記載過這個關聯」，不是療效。這份名單的用途是讓研究人員知道「該先去查證哪幾個」，把範圍從幾百味縮到個位數。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總覽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這次完成的五項功能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856232"/>
            <a:ext cx="457200" cy="457200"/>
          </a:xfrm>
          <a:prstGeom prst="ellipse">
            <a:avLst/>
          </a:prstGeom>
          <a:solidFill>
            <a:srgbClr val="4A7C8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91109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01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新聞管理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3703320" y="183794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每天自動追蹤 10 個權威官方網站，用證據可信度排序，不是用熱度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85800" y="2724912"/>
            <a:ext cx="457200" cy="457200"/>
          </a:xfrm>
          <a:prstGeom prst="ellipse">
            <a:avLst/>
          </a:prstGeom>
          <a:solidFill>
            <a:srgbClr val="8B5FB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77977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6700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可編碼蛋白區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3703320" y="27066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把「這個基因跟癌症有關」升級成「是哪個疾病、證據多強」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85800" y="3593592"/>
            <a:ext cx="457200" cy="457200"/>
          </a:xfrm>
          <a:prstGeom prst="ellipse">
            <a:avLst/>
          </a:prstGeom>
          <a:solidFill>
            <a:srgbClr val="3A9D6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364845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5387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通路富集分析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3703320" y="357530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從一份靶點名單，進到「這些蛋白集中在哪條生產線」的機轉假說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85800" y="4462272"/>
            <a:ext cx="457200" cy="457200"/>
          </a:xfrm>
          <a:prstGeom prst="ellipse">
            <a:avLst/>
          </a:prstGeom>
          <a:solidFill>
            <a:srgbClr val="C99A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451713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4074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靶點標準化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3703320" y="444398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統一蛋白質的名字，讓比對率從 2.6% 提升到 18.0%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85800" y="5330952"/>
            <a:ext cx="457200" cy="457200"/>
          </a:xfrm>
          <a:prstGeom prst="ellipse">
            <a:avLst/>
          </a:prstGeom>
          <a:solidFill>
            <a:srgbClr val="3B82C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538581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2760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成分標準化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3703320" y="531266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替中藥成分補上化學結構與國際編碼，才能跟外部資料庫對帳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這五項不是各自獨立的功能，而是同一條流程上前後相扣的五步。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執行程序　導讀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一味人參，實際被拆成什麼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78992" y="2770632"/>
            <a:ext cx="585216" cy="585216"/>
          </a:xfrm>
          <a:prstGeom prst="ellipse">
            <a:avLst/>
          </a:prstGeom>
          <a:solidFill>
            <a:srgbClr val="C99A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34107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人參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6850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herb_id 336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 個成分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 flipV="1">
            <a:off x="1664208" y="1874520"/>
            <a:ext cx="3255264" cy="1188720"/>
          </a:xfrm>
          <a:prstGeom prst="line">
            <a:avLst/>
          </a:prstGeom>
          <a:noFill/>
          <a:ln w="12700">
            <a:solidFill>
              <a:srgbClr val="C2CBC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19472" y="1773936"/>
            <a:ext cx="201168" cy="201168"/>
          </a:xfrm>
          <a:prstGeom prst="ellipse">
            <a:avLst/>
          </a:prstGeom>
          <a:solidFill>
            <a:srgbClr val="3B82C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193792" y="168249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beta-sitosterol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193792" y="189280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 222284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 flipV="1">
            <a:off x="1664208" y="2532888"/>
            <a:ext cx="3255264" cy="530352"/>
          </a:xfrm>
          <a:prstGeom prst="line">
            <a:avLst/>
          </a:prstGeom>
          <a:noFill/>
          <a:ln w="12700">
            <a:solidFill>
              <a:srgbClr val="C2CB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19472" y="2432304"/>
            <a:ext cx="201168" cy="201168"/>
          </a:xfrm>
          <a:prstGeom prst="ellipse">
            <a:avLst/>
          </a:prstGeom>
          <a:solidFill>
            <a:srgbClr val="3B82C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193792" y="234086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kaempferol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193792" y="255117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 5280863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664208" y="3063240"/>
            <a:ext cx="3255264" cy="128016"/>
          </a:xfrm>
          <a:prstGeom prst="line">
            <a:avLst/>
          </a:prstGeom>
          <a:noFill/>
          <a:ln w="12700">
            <a:solidFill>
              <a:srgbClr val="C2CBC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19472" y="3090672"/>
            <a:ext cx="201168" cy="201168"/>
          </a:xfrm>
          <a:prstGeom prst="ellipse">
            <a:avLst/>
          </a:prstGeom>
          <a:solidFill>
            <a:srgbClr val="3B82C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193792" y="29992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Stigmasterol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193792" y="320954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 5280794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664208" y="3063240"/>
            <a:ext cx="3255264" cy="786384"/>
          </a:xfrm>
          <a:prstGeom prst="line">
            <a:avLst/>
          </a:prstGeom>
          <a:noFill/>
          <a:ln w="12700">
            <a:solidFill>
              <a:srgbClr val="C2CBC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19472" y="3749040"/>
            <a:ext cx="201168" cy="201168"/>
          </a:xfrm>
          <a:prstGeom prst="ellipse">
            <a:avLst/>
          </a:prstGeom>
          <a:solidFill>
            <a:srgbClr val="3B82C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193792" y="36576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Fumarine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193792" y="386791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 4970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664208" y="3063240"/>
            <a:ext cx="3255264" cy="1444752"/>
          </a:xfrm>
          <a:prstGeom prst="line">
            <a:avLst/>
          </a:prstGeom>
          <a:noFill/>
          <a:ln w="12700">
            <a:solidFill>
              <a:srgbClr val="C2CBC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19472" y="4407408"/>
            <a:ext cx="201168" cy="201168"/>
          </a:xfrm>
          <a:prstGeom prst="ellipse">
            <a:avLst/>
          </a:prstGeom>
          <a:solidFill>
            <a:srgbClr val="3B82C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193792" y="431596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Inermin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193792" y="452628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 91510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4919472" y="52303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⋯ 共 22 個活性成分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 flipV="1">
            <a:off x="7772400" y="2286000"/>
            <a:ext cx="1554480" cy="905256"/>
          </a:xfrm>
          <a:prstGeom prst="line">
            <a:avLst/>
          </a:prstGeom>
          <a:noFill/>
          <a:ln w="12700">
            <a:solidFill>
              <a:srgbClr val="C2CBC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326880" y="2194560"/>
            <a:ext cx="182880" cy="182880"/>
          </a:xfrm>
          <a:prstGeom prst="ellipse">
            <a:avLst/>
          </a:prstGeom>
          <a:solidFill>
            <a:srgbClr val="3A9D6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582912" y="21579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BCL2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 flipV="1">
            <a:off x="7772400" y="3063240"/>
            <a:ext cx="1554480" cy="128016"/>
          </a:xfrm>
          <a:prstGeom prst="line">
            <a:avLst/>
          </a:prstGeom>
          <a:noFill/>
          <a:ln w="12700">
            <a:solidFill>
              <a:srgbClr val="C2CBC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326880" y="2971800"/>
            <a:ext cx="182880" cy="182880"/>
          </a:xfrm>
          <a:prstGeom prst="ellipse">
            <a:avLst/>
          </a:prstGeom>
          <a:solidFill>
            <a:srgbClr val="3A9D63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582912" y="29352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AKT1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772400" y="3191256"/>
            <a:ext cx="1554480" cy="649224"/>
          </a:xfrm>
          <a:prstGeom prst="line">
            <a:avLst/>
          </a:prstGeom>
          <a:noFill/>
          <a:ln w="12700">
            <a:solidFill>
              <a:srgbClr val="C2CBC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326880" y="3749040"/>
            <a:ext cx="182880" cy="182880"/>
          </a:xfrm>
          <a:prstGeom prst="ellipse">
            <a:avLst/>
          </a:prstGeom>
          <a:solidFill>
            <a:srgbClr val="3A9D6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582912" y="37124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PTGS2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7406640" y="33101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Stigmasterol 為例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9326880" y="4206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⋯ 共 118 個靶點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40080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藥材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4663440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成分（分子）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9052560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靶點（蛋白質）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40080" y="55321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914400" y="57424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接下來四頁說明：這些分子的結構怎麼查出來的、蛋白質的名字怎麼統一的、怎麼判斷它們集中在哪條通路，以及基因那一側比對了哪些資料庫。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執行程序　1／4　PubChem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成分標準化：怎麼把一個名字變成一個結構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645920" cy="1051560"/>
          </a:xfrm>
          <a:prstGeom prst="roundRect">
            <a:avLst>
              <a:gd name="adj" fmla="val 6087"/>
            </a:avLst>
          </a:prstGeom>
          <a:solidFill>
            <a:srgbClr val="F2F5F3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" y="156362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　取名稱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865376"/>
            <a:ext cx="1517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TCMSP 成分名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（英文原名）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1860804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32304" y="1463040"/>
            <a:ext cx="1645920" cy="1051560"/>
          </a:xfrm>
          <a:prstGeom prst="roundRect">
            <a:avLst>
              <a:gd name="adj" fmla="val 6087"/>
            </a:avLst>
          </a:prstGeom>
          <a:solidFill>
            <a:srgbClr val="E9F1F8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96312" y="156362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　原名精確查詢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496312" y="1865376"/>
            <a:ext cx="1517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 PubChem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名稱查 CID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078224" y="1860804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15968" y="1463040"/>
            <a:ext cx="1645920" cy="1051560"/>
          </a:xfrm>
          <a:prstGeom prst="roundRect">
            <a:avLst>
              <a:gd name="adj" fmla="val 6087"/>
            </a:avLst>
          </a:prstGeom>
          <a:solidFill>
            <a:srgbClr val="E9F1F8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79976" y="156362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　清理後再查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379976" y="1865376"/>
            <a:ext cx="1517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去掉雜訊字串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再查一次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961888" y="1860804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99632" y="1463040"/>
            <a:ext cx="1645920" cy="1051560"/>
          </a:xfrm>
          <a:prstGeom prst="roundRect">
            <a:avLst>
              <a:gd name="adj" fmla="val 6087"/>
            </a:avLst>
          </a:prstGeom>
          <a:solidFill>
            <a:srgbClr val="E9F1F8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63640" y="156362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　取回結構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1865376"/>
            <a:ext cx="1517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SMILES／InChIKey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CAS／分子量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845552" y="1860804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83296" y="1463040"/>
            <a:ext cx="1645920" cy="1051560"/>
          </a:xfrm>
          <a:prstGeom prst="roundRect">
            <a:avLst>
              <a:gd name="adj" fmla="val 6087"/>
            </a:avLst>
          </a:prstGeom>
          <a:solidFill>
            <a:srgbClr val="FBF4E6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47304" y="156362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　分子量對帳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147304" y="1865376"/>
            <a:ext cx="1517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 TCMSP 自存的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分子量比對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9729216" y="1860804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966960" y="1463040"/>
            <a:ext cx="1645920" cy="1051560"/>
          </a:xfrm>
          <a:prstGeom prst="roundRect">
            <a:avLst>
              <a:gd name="adj" fmla="val 6087"/>
            </a:avLst>
          </a:prstGeom>
          <a:solidFill>
            <a:srgbClr val="EAF2EC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030968" y="156362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　分流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030968" y="1865376"/>
            <a:ext cx="1517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自動採用／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待確認／否決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27432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比對的資料庫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2560320" y="274320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PubChem PUG REST（pubchem.ncbi.nlm.nih.gov）— 美國 NCBI，全球最大的公開化合物資料庫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31272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取回的欄位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2560320" y="312724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CanonicalSMILES、IsomericSMILES、InChIKey、MolecularFormula、MolecularWeight、IUPACName，另抓同義詞清單以擷取 CAS 號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351129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獨立的驗算依據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2560320" y="3511296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TCMSP 自己存了分子量，所以每一筆解析都有外部證據可驗——這是本功能與靶點標準化最大的差別。容許值 0.5 道爾頓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389534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差值怎麼判讀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2560320" y="3895344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1.008 ＝ 一個質子（酸式／陰離子式）　18.015 ＝ 水合物　162.14 己糖／146.14 去氧己糖／132.12 戊糖（最多四個）＝ 糖基差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427939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分流規則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2560320" y="427939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名稱單一命中且分子量相符 → 自動採用；分子量不符或名稱命中多筆 → 一律待確認，不自動採用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40080" y="4846320"/>
            <a:ext cx="10881360" cy="1170432"/>
          </a:xfrm>
          <a:prstGeom prst="roundRect">
            <a:avLst>
              <a:gd name="adj" fmla="val 6250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914400" y="4992624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為什麼「名稱對上」不能算成功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914400" y="53035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同名異物、鹽類與游離態、水合物、糖苷與苷元，這幾種情況名稱都會對上，但拿回來的是另一個分子。畫面上一切正常，只有分子量會露餡——全庫掃描找出 81 筆這類錯誤，其中 75 筆（93%）名稱以 _qt 結尾，而且 80:1 全都是 PubChem 那邊比較重。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640080" y="614476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目前成果：人參 17／22（77.3%），全庫 49.5%　·　⚠️ PubChem 從開發沙箱連不到，解析一律在正式環境執行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執行程序　2／4　UniProt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靶點標準化：把全名翻譯成國際代號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645920" cy="1051560"/>
          </a:xfrm>
          <a:prstGeom prst="roundRect">
            <a:avLst>
              <a:gd name="adj" fmla="val 6087"/>
            </a:avLst>
          </a:prstGeom>
          <a:solidFill>
            <a:srgbClr val="F2F5F3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" y="156362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　取蛋白全名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865376"/>
            <a:ext cx="1517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1,751 個靶點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1,573 個帶空白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1860804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32304" y="1463040"/>
            <a:ext cx="1645920" cy="1051560"/>
          </a:xfrm>
          <a:prstGeom prst="roundRect">
            <a:avLst>
              <a:gd name="adj" fmla="val 6087"/>
            </a:avLst>
          </a:prstGeom>
          <a:solidFill>
            <a:srgbClr val="EAF2EC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96312" y="156362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　第 1 級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496312" y="1865376"/>
            <a:ext cx="1517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精確名稱查詢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信心 1.0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078224" y="1860804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15968" y="1463040"/>
            <a:ext cx="1645920" cy="1051560"/>
          </a:xfrm>
          <a:prstGeom prst="roundRect">
            <a:avLst>
              <a:gd name="adj" fmla="val 6087"/>
            </a:avLst>
          </a:prstGeom>
          <a:solidFill>
            <a:srgbClr val="FBF4E6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79976" y="156362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　第 2 級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379976" y="1865376"/>
            <a:ext cx="1517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拆詞 AND 查詢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信心 0.8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961888" y="1860804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99632" y="1463040"/>
            <a:ext cx="1645920" cy="1051560"/>
          </a:xfrm>
          <a:prstGeom prst="roundRect">
            <a:avLst>
              <a:gd name="adj" fmla="val 6087"/>
            </a:avLst>
          </a:prstGeom>
          <a:solidFill>
            <a:srgbClr val="FCEEEA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63640" y="156362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　第 3 級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1865376"/>
            <a:ext cx="1517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全文查詢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信心 0.5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845552" y="1860804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83296" y="1463040"/>
            <a:ext cx="1645920" cy="1051560"/>
          </a:xfrm>
          <a:prstGeom prst="roundRect">
            <a:avLst>
              <a:gd name="adj" fmla="val 6087"/>
            </a:avLst>
          </a:prstGeom>
          <a:solidFill>
            <a:srgbClr val="F2F5F3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47304" y="156362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　分流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147304" y="1865376"/>
            <a:ext cx="1517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1、2 級單一命中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自動採用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9729216" y="1860804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966960" y="1463040"/>
            <a:ext cx="1645920" cy="1051560"/>
          </a:xfrm>
          <a:prstGeom prst="roundRect">
            <a:avLst>
              <a:gd name="adj" fmla="val 6087"/>
            </a:avLst>
          </a:prstGeom>
          <a:solidFill>
            <a:srgbClr val="F1EBF8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030968" y="156362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　順手取通路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030968" y="1865376"/>
            <a:ext cx="1517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KEGG 與 Reactome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交叉引用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27432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比對的資料庫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2560320" y="274320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UniProt REST（rest.uniprot.org）— 由 EMBL-EBI、瑞士生物資訊研究所、美國蛋白質資訊資源中心共同維護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31272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對到什麼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2560320" y="312724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UniProt 登錄號（AR → P10275、TP53 → P04637、AKT1 → P31749）與基因符號，含同義詞（NR3C4 也要對得到 AR）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351129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級為何不自動採用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2560320" y="3511296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全文命中只代表「那個條目的內文提到這串字」，不代表是同一個蛋白。一個錯誤映射會污染下游每一次分析，而且錯誤會被當成結論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389534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刻意不做的事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2560320" y="3895344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不剝除名稱結尾的數字——Prostaglandin G/H synthase 1 與 2 是 PTGS1 與 PTGS2 兩個不同的基因，剝掉尾數兩者就互相污染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427939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順手拿到的東西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2560320" y="427939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解析時一併存下 kegg_id（hsa:367）與 reactome_ids（R-HSA-383280），1,751 個靶點裡 1,258 個有 KEGG 交叉引用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40080" y="484632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914400" y="4983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標準化前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914400" y="5285232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癌症基因比對率 2.6%（32／1,245）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AR、TP53、EGFR 明明都在庫裡，全部比不到，而且畫面不會報錯，只會顯示「沒有關聯」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17920" y="484632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EAF2EC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6492240" y="4983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標準化後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6492240" y="5285232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癌症基因比對率 18.0%（224／1,245），提升 7 倍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蛋白質解析覆蓋率 72.2%（1,265／1,751），連線失敗 0 筆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40080" y="614476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比對邏輯集中在 app/target_index.py 一支檔案：原本有八個地方各寫一次，漏改一處就會出現「查詢站說有、統計說沒有」的自相矛盾畫面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執行程序　3／4　KEGG／Reactome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通路富集分析：怎麼判斷「集中」不是巧合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645920" cy="1051560"/>
          </a:xfrm>
          <a:prstGeom prst="roundRect">
            <a:avLst>
              <a:gd name="adj" fmla="val 6087"/>
            </a:avLst>
          </a:prstGeom>
          <a:solidFill>
            <a:srgbClr val="F1EBF8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" y="156362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　整包下載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865376"/>
            <a:ext cx="1517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KEGG 基因→通路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Reactome 通路清單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1860804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32304" y="1463040"/>
            <a:ext cx="1645920" cy="1051560"/>
          </a:xfrm>
          <a:prstGeom prst="roundRect">
            <a:avLst>
              <a:gd name="adj" fmla="val 6087"/>
            </a:avLst>
          </a:prstGeom>
          <a:solidFill>
            <a:srgbClr val="F2F5F3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96312" y="156362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　轉成基因符號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496312" y="1865376"/>
            <a:ext cx="1517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不用 tar_id 計算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避免重複計入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078224" y="1860804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15968" y="1463040"/>
            <a:ext cx="1645920" cy="1051560"/>
          </a:xfrm>
          <a:prstGeom prst="roundRect">
            <a:avLst>
              <a:gd name="adj" fmla="val 6087"/>
            </a:avLst>
          </a:prstGeom>
          <a:solidFill>
            <a:srgbClr val="F2F5F3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79976" y="156362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　數命中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379976" y="1865376"/>
            <a:ext cx="1517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這條通路被打中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幾個基因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961888" y="1860804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99632" y="1463040"/>
            <a:ext cx="1645920" cy="1051560"/>
          </a:xfrm>
          <a:prstGeom prst="roundRect">
            <a:avLst>
              <a:gd name="adj" fmla="val 6087"/>
            </a:avLst>
          </a:prstGeom>
          <a:solidFill>
            <a:srgbClr val="EAF2EC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63640" y="156362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　超幾何檢定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1865376"/>
            <a:ext cx="1517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算出這個集中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有多不尋常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845552" y="1860804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83296" y="1463040"/>
            <a:ext cx="1645920" cy="1051560"/>
          </a:xfrm>
          <a:prstGeom prst="roundRect">
            <a:avLst>
              <a:gd name="adj" fmla="val 6087"/>
            </a:avLst>
          </a:prstGeom>
          <a:solidFill>
            <a:srgbClr val="FBF4E6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47304" y="156362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　FDR 校正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147304" y="1865376"/>
            <a:ext cx="1517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Benjamini–Hochberg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多重檢定校正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9729216" y="1860804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966960" y="1463040"/>
            <a:ext cx="1645920" cy="1051560"/>
          </a:xfrm>
          <a:prstGeom prst="roundRect">
            <a:avLst>
              <a:gd name="adj" fmla="val 6087"/>
            </a:avLst>
          </a:prstGeom>
          <a:solidFill>
            <a:srgbClr val="EAF2EC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030968" y="156362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　依 q 值排序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030968" y="1865376"/>
            <a:ext cx="1517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畫面只呈現 q 值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不呈現 p 值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27432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比對的資料庫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2560320" y="274320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KEGG PATHWAY（rest.kegg.jp，日本京都大學）與 Reactome（reactome.org，歐洲生物資訊研究所等單位）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31272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輸入從哪來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2560320" y="312724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上一站順手存下的 1,258 筆 UniProt 交叉引用。KEGG 給的是基因 ID（hsa:367），還要另外抓基因→通路對應表；Reactome 直接給通路 ID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351129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為什麼整包下載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2560320" y="3511296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次請求 vs 1,751 次請求的差別。兩個來源分開同步，Reactome 的檔數十 MB，抓失敗不該把已成功的 KEGG 一起拖下水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389534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背景基因數從哪取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2560320" y="3895344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一律取自 KEGG／Reactome 本身。拿自己手上的靶點當母體是循環論證，會讓每一條通路看起來都顯著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427939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兩種母體要標示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2560320" y="427939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genome（學界慣例，但 TCMSP 偏向可成藥蛋白，訊號與代謝通路會被系統性高估）／tcmsp（消掉偏差、適合比較藥材）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40080" y="484632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FBF4E6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914400" y="4983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為什麼一定要做 FDR 校正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914400" y="5285232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一次對數千條通路檢定，就算資料全是噪音，在 p&lt;0.05 這條線下也會出現一百多條「顯著」。不校正等於在量產假發現。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17920" y="484632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EAF2EC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6492240" y="4983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數學怎麼驗的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6492240" y="5285232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值算錯不會有任何徵兆，它一樣給你一個看起來合理的數字。所以測試用精確有理數運算當對照組（完全不同的算法），七組參數最大誤差 7.8e-13。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40080" y="614476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人參實測：細胞凋亡通路 hsa04215，命中 6／32、19.2 倍、q = 4.91e-6　·　不引入 scipy，超幾何機率以 lgamma 在對數空間求和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基因體的比例　名詞釐清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億鹼基對裡，這個模組在看哪一塊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267712"/>
            <a:ext cx="11064240" cy="548640"/>
          </a:xfrm>
          <a:prstGeom prst="rect">
            <a:avLst/>
          </a:prstGeom>
          <a:solidFill>
            <a:srgbClr val="D9D3E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267712"/>
            <a:ext cx="221285" cy="548640"/>
          </a:xfrm>
          <a:prstGeom prst="rect">
            <a:avLst/>
          </a:prstGeom>
          <a:solidFill>
            <a:srgbClr val="C99A3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267712"/>
            <a:ext cx="11064240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B9C2B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42646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人類基因體　約 30 億個鹼基對（3.1 Gb），以下按真實比例繪製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9282" y="2048256"/>
            <a:ext cx="914" cy="219456"/>
          </a:xfrm>
          <a:prstGeom prst="line">
            <a:avLst/>
          </a:prstGeom>
          <a:noFill/>
          <a:ln w="15240">
            <a:solidFill>
              <a:srgbClr val="C99A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" y="17647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可編碼蛋白區　約 1～2% ↓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4048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4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非編碼區　約 98%　（文獻稱 dark genome，暗黑基因「體」）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3520440" cy="1481328"/>
          </a:xfrm>
          <a:prstGeom prst="roundRect">
            <a:avLst>
              <a:gd name="adj" fmla="val 4938"/>
            </a:avLst>
          </a:prstGeom>
          <a:solidFill>
            <a:srgbClr val="FBF4E6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77240" y="309067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可編碼蛋白區（1～2%）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401568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真正被轉譯成蛋白質的那一段。人體約 2 萬個蛋白編碼基因都在這裡——平台這個模組的名字就是這樣來的。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15968" y="2971800"/>
            <a:ext cx="3520440" cy="1481328"/>
          </a:xfrm>
          <a:prstGeom prst="roundRect">
            <a:avLst>
              <a:gd name="adj" fmla="val 4938"/>
            </a:avLst>
          </a:prstGeom>
          <a:solidFill>
            <a:srgbClr val="F1EBF8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544568" y="309067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非編碼區（98%）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44568" y="3401568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不產出蛋白質，但藏著大量調控元件，決定哪些基因在什麼時候開啟。曾被誤稱為「垃圾 DNA」。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83296" y="2971800"/>
            <a:ext cx="3529584" cy="1481328"/>
          </a:xfrm>
          <a:prstGeom prst="roundRect">
            <a:avLst>
              <a:gd name="adj" fmla="val 4938"/>
            </a:avLst>
          </a:prstGeom>
          <a:solidFill>
            <a:srgbClr val="EAF2EC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311896" y="3090672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GenCC（不佔 DNA 比例）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311896" y="3401568"/>
            <a:ext cx="30723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它是一個資料庫，不是一段 DNA。內容是專家小組對「某個基因與某個疾病有沒有因果關係」的審查結論。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22960" y="47548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最容易混淆的一點：有兩個「暗黑」，不是同一個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065776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暗黑基因體（dark genome）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＝ 那 98% 的非編碼區，講的是「基因體裡不產生蛋白質的部分」。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暗黑基因（dark genes／understudied genes）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＝ 少有人研究的基因，講的是「研究關注度」，它們就在那 1～2% 的編碼區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裡面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。本平台的模組是後者——資料取自 OncoKB 的癌症基因清單 1,245 個，全部是蛋白編碼基因。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資料來源：NIH NIGMS「Genetics by the Numbers」、UCSF「The Mysterious 98%: Scientists Look to Shine Light on Our Dark Genome」（2017）、NIH NCATS Illuminating the Druggable Genome（IDG）計畫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執行程序　4／4　OncoKB／GenCC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可編碼蛋白區：基因那一側比對了什麼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645920" cy="1051560"/>
          </a:xfrm>
          <a:prstGeom prst="roundRect">
            <a:avLst>
              <a:gd name="adj" fmla="val 6087"/>
            </a:avLst>
          </a:prstGeom>
          <a:solidFill>
            <a:srgbClr val="F1EBF8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" y="156362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　匯入癌症基因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865376"/>
            <a:ext cx="1517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OncoKB 清單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1,245 個基因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1860804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32304" y="1463040"/>
            <a:ext cx="1645920" cy="1051560"/>
          </a:xfrm>
          <a:prstGeom prst="roundRect">
            <a:avLst>
              <a:gd name="adj" fmla="val 6087"/>
            </a:avLst>
          </a:prstGeom>
          <a:solidFill>
            <a:srgbClr val="F1EBF8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96312" y="156362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　匯入疾病斷言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496312" y="1865376"/>
            <a:ext cx="1517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GenCC 約 3 萬筆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基因–疾病關聯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078224" y="1860804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15968" y="1463040"/>
            <a:ext cx="1645920" cy="1051560"/>
          </a:xfrm>
          <a:prstGeom prst="roundRect">
            <a:avLst>
              <a:gd name="adj" fmla="val 6087"/>
            </a:avLst>
          </a:prstGeom>
          <a:solidFill>
            <a:srgbClr val="F2F5F3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79976" y="156362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　增量更新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379976" y="1865376"/>
            <a:ext cx="1517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依基因符號／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sgc_id 逐筆更新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961888" y="1860804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99632" y="1463040"/>
            <a:ext cx="1645920" cy="1051560"/>
          </a:xfrm>
          <a:prstGeom prst="roundRect">
            <a:avLst>
              <a:gd name="adj" fmla="val 6087"/>
            </a:avLst>
          </a:prstGeom>
          <a:solidFill>
            <a:srgbClr val="EAF2EC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63640" y="156362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　比對靶點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1865376"/>
            <a:ext cx="1517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走同一支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target_index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845552" y="1860804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83296" y="1463040"/>
            <a:ext cx="1645920" cy="1051560"/>
          </a:xfrm>
          <a:prstGeom prst="roundRect">
            <a:avLst>
              <a:gd name="adj" fmla="val 6087"/>
            </a:avLst>
          </a:prstGeom>
          <a:solidFill>
            <a:srgbClr val="F2F5F3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47304" y="156362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　回寫統計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147304" y="1865376"/>
            <a:ext cx="1517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重算「有無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中藥靶點」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9729216" y="1860804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966960" y="1463040"/>
            <a:ext cx="1645920" cy="1051560"/>
          </a:xfrm>
          <a:prstGeom prst="roundRect">
            <a:avLst>
              <a:gd name="adj" fmla="val 6087"/>
            </a:avLst>
          </a:prstGeom>
          <a:solidFill>
            <a:srgbClr val="E9F1F8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030968" y="156362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　查詢站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030968" y="1865376"/>
            <a:ext cx="1517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搜尋驅動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不預載清單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27432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比對的資料庫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2560320" y="274320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OncoKB（美國紀念斯隆凱特琳癌症中心）的癌症基因清單，與 GenCC（Gene Curation Coalition，彙整 ClinGen、PanelApp 等專家審查小組的結論）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31272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兩者差在哪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2560320" y="312724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OncoKB 是一份名單：這個基因跟癌症有關，但不說是哪一種病、證據多強。GenCC 每一筆同時帶基因與特定疾病，還附信心等級與遺傳模式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351129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比對的鍵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2560320" y="3511296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基因符號（HUGO Symbol）。這條路徑要能通，前提是靶點那側已經標準化——所以先做 UniProt，效益才會回饋到這裡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389534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為何用增量更新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2560320" y="3895344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不清空重建。這兩張表之後會有人透過後台手動補中文名稱，清空重建會把手動資料一起洗掉（TCMSP 匯入才是先清空再匯入）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427939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前端為何搜尋驅動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2560320" y="427939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暗黑基因只有 1,245 筆可以一次送到瀏覽器；GenCC 三萬筆這樣做會嚴重卡頓，所以改成輸入關鍵字才查，且等 0.35 秒才送出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40080" y="4846320"/>
            <a:ext cx="10881360" cy="1170432"/>
          </a:xfrm>
          <a:prstGeom prst="roundRect">
            <a:avLst>
              <a:gd name="adj" fmla="val 6250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914400" y="4992624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用一個比喻說明兩者的分工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914400" y="53035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暗黑基因像一份「可疑人物名單」——告訴你這些人跟案子有關。GenCC 則像一份份「案件卷宗」——這個人涉入的是哪一樁案子、證據等級是確鑿還是有限、關係是直接還是間接。前者幫你縮小範圍，後者才能拿來論證。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640080" y="614476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這個模組補上第 4 站「疾病」的另一半：中藥資料庫自帶的疾病關聯偏重傳統文獻記載，GenCC 補上的是經國際專家小組審查的基因–疾病因果判定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執行程序　總表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這四個功能，一共接了哪些外部資料庫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064240" cy="384048"/>
          </a:xfrm>
          <a:prstGeom prst="rect">
            <a:avLst/>
          </a:prstGeom>
          <a:solidFill>
            <a:srgbClr val="E4EA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276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資料庫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05740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營運單位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6276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用在哪一步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263640" y="16276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比對的鍵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16276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取得方式與條件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44602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039112"/>
            <a:ext cx="11887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PubChem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057400" y="2039112"/>
            <a:ext cx="23774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美國 NCBI（隸屬 NIH）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039112"/>
            <a:ext cx="13716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成分標準化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039112"/>
            <a:ext cx="17373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化合物名稱 → CID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2039112"/>
            <a:ext cx="3291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逐筆查 REST API；免費公開，每秒上限 5 次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446020"/>
            <a:ext cx="11064240" cy="489204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2935224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2528316"/>
            <a:ext cx="11887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UniProt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2057400" y="2528316"/>
            <a:ext cx="23774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EMBL-EBI ＋ 瑞士生資所 ＋ 美國 PIR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2528316"/>
            <a:ext cx="13716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靶點標準化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2528316"/>
            <a:ext cx="17373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蛋白名稱 → 登錄號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2528316"/>
            <a:ext cx="3291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逐筆查 REST API；免費，CC BY 4.0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424428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3017520"/>
            <a:ext cx="11887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KEGG PATHWAY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2057400" y="3017520"/>
            <a:ext cx="23774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日本京都大學 Kanehisa Labs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663440" y="3017520"/>
            <a:ext cx="13716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通路富集分析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263640" y="3017520"/>
            <a:ext cx="17373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 ID → 通路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8229600" y="3017520"/>
            <a:ext cx="3291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整包下載；學術免費，商業另有授權規定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3424428"/>
            <a:ext cx="11064240" cy="489204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3913632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" y="3506724"/>
            <a:ext cx="11887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Reactome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2057400" y="3506724"/>
            <a:ext cx="23774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OICR ＋ EMBL-EBI ＋ 紐約大學等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663440" y="3506724"/>
            <a:ext cx="13716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通路富集分析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63640" y="3506724"/>
            <a:ext cx="17373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通路 ID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229600" y="3506724"/>
            <a:ext cx="3291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整包下載（數十 MB）；完全開放 CC0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4402836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" y="3995928"/>
            <a:ext cx="11887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OncoKB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2057400" y="3995928"/>
            <a:ext cx="23774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美國紀念斯隆凱特琳癌症中心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4663440" y="3995928"/>
            <a:ext cx="13716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可編碼蛋白區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6263640" y="3995928"/>
            <a:ext cx="17373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基因符號（HUGO）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3995928"/>
            <a:ext cx="3291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TSV 匯入，1,245 個癌症基因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48640" y="4402836"/>
            <a:ext cx="11064240" cy="489204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43" name="Shape 41"/>
          <p:cNvSpPr/>
          <p:nvPr/>
        </p:nvSpPr>
        <p:spPr>
          <a:xfrm>
            <a:off x="548640" y="48920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40080" y="4485132"/>
            <a:ext cx="11887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GenCC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2057400" y="4485132"/>
            <a:ext cx="23774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ClinGen、PanelApp 等專家小組的彙整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4663440" y="4485132"/>
            <a:ext cx="13716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可編碼蛋白區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6263640" y="4485132"/>
            <a:ext cx="17373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基因符號 ＋ 疾病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485132"/>
            <a:ext cx="3291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官網 CSV 匯入，約 3 萬筆斷言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48640" y="5381244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40080" y="4974336"/>
            <a:ext cx="11887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DepMap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2057400" y="4974336"/>
            <a:ext cx="23774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美國 Broad Institute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4663440" y="4974336"/>
            <a:ext cx="13716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細胞株驗證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6263640" y="4974336"/>
            <a:ext cx="17373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基因符號 → 依賴分數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8229600" y="4974336"/>
            <a:ext cx="3291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整包下載 24Q2 Public；CC BY 4.0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548640" y="5486400"/>
            <a:ext cx="11064240" cy="987552"/>
          </a:xfrm>
          <a:prstGeom prst="roundRect">
            <a:avLst>
              <a:gd name="adj" fmla="val 7407"/>
            </a:avLst>
          </a:prstGeom>
          <a:solidFill>
            <a:srgbClr val="FBF4E6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56" name="Text 54"/>
          <p:cNvSpPr txBox="1"/>
          <p:nvPr/>
        </p:nvSpPr>
        <p:spPr>
          <a:xfrm>
            <a:off x="822960" y="562356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兩件關於授權的事，現在就要記著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822960" y="59161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GDSC（藥物敏感性資料庫）已因授權條款排除，理由是它禁止與其他資料組合後用於商業服務。KEGG 的條款建議比照辦理：學術使用免費，但平台若走向商業服務需事先確認。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新聞管理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為什麼不能照「熱門程度」追新聞？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同一天可能出現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95728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一篇嚴謹的大型臨床試驗報告</a:t>
            </a:r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以及一篇只做了細胞實驗、卻被寫成「抗癌新突破」的新聞稿。</a:t>
            </a:r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而後者在網路上傳播得快得多。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263640" y="182880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FBF4E6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37960" y="2011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更容易被埋沒的一類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395728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中藥與化療藥物的交互作用警訊。例如某種中藥會影響肝臟代謝酵素，讓化療藥在體內濃度變高或變低。</a:t>
            </a:r>
            <a:endParaRPr lang="en-US" sz="1550" dirty="0"/>
          </a:p>
          <a:p>
            <a:pPr indent="0" marL="0">
              <a:lnSpc>
                <a:spcPts val="2400"/>
              </a:lnSpc>
              <a:buNone/>
            </a:pPr>
            <a:endParaRPr lang="en-US" sz="15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這對正在治療的病人非常重要，卻幾乎沒有新聞熱度。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94360" y="4572000"/>
            <a:ext cx="10972800" cy="1280160"/>
          </a:xfrm>
          <a:prstGeom prst="roundRect">
            <a:avLst>
              <a:gd name="adj" fmla="val 5714"/>
            </a:avLst>
          </a:prstGeom>
          <a:solidFill>
            <a:srgbClr val="EAF2EC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14400" y="473659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所以這個功能的目標不是「新聞聚合」，而是——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510235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用證據可信度來排序的情報監測</a:t>
            </a:r>
            <a:endParaRPr lang="en-US" sz="2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新聞管理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排序看的是證據，不是熱度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783080"/>
          <a:ext cx="64008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956816"/>
            <a:ext cx="164592" cy="164592"/>
          </a:xfrm>
          <a:prstGeom prst="ellipse">
            <a:avLst/>
          </a:prstGeom>
          <a:solidFill>
            <a:srgbClr val="C99A3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635240" y="1874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時效性的權重最低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635240" y="2194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新不代表可信。這是刻意的設計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0" y="2889504"/>
            <a:ext cx="164592" cy="164592"/>
          </a:xfrm>
          <a:prstGeom prst="ellipse">
            <a:avLst/>
          </a:prstGeom>
          <a:solidFill>
            <a:srgbClr val="C99A3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35240" y="28072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安全訊號額外加分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635240" y="31272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交互作用、肝腎毒性一律優先上版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315200" y="3822192"/>
            <a:ext cx="164592" cy="164592"/>
          </a:xfrm>
          <a:prstGeom prst="ellipse">
            <a:avLst/>
          </a:prstGeom>
          <a:solidFill>
            <a:srgbClr val="C99A3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635240" y="373989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臨床前研究自動降分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635240" y="405993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細胞與動物實驗標註「不可推論至病患層級」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315200" y="4754880"/>
            <a:ext cx="164592" cy="164592"/>
          </a:xfrm>
          <a:prstGeom prst="ellipse">
            <a:avLst/>
          </a:prstGeom>
          <a:solidFill>
            <a:srgbClr val="C99A3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635240" y="467258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單一來源每天最多 4 篇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7635240" y="499262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避免資料量大的來源洗版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新聞管理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固定追蹤的 10 個權威官方網站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4813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挑選標準不是「哪個講中藥抗癌講得最好」，而是機構權威性、資料可追溯性與安全資訊的重要性。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196596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95528" y="21214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全球政策與美國癌症研究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95528" y="25420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傳統醫學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7980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世界衛生組織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31638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NCI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95528" y="34198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美國國家癌症研究所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95528" y="37856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NCI OCCAM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40416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NCI 補充替代醫學辦公室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43400" y="196596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544568" y="21214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天然物研究、文獻與試驗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544568" y="25420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NCCIH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44568" y="27980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美國國家補充與整合健康中心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544568" y="31638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PubMed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44568" y="34198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美國國家醫學圖書館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44568" y="37856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ClinicalTrials.gov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44568" y="40416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美國國家醫學圖書館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92440" y="196596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293608" y="21214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癌症中心與中國官方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293608" y="25420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MSK 整合醫學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293608" y="27980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紀念斯隆凱特琳癌症中心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8293608" y="31638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MSK About Herbs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293608" y="34198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MSK 整合醫學團隊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8293608" y="37856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中國衛健委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293608" y="40416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中國中央政府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8293608" y="44074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中國中醫藥管理局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293608" y="46634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中國中央政府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94360" y="539496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914400" y="559612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共同前提：這些來源是用來「查證」的，不是用來找答案的。政策支持不等於療效驗證，論文被收錄不代表結論正確，試驗登錄不等於有效。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可編碼蛋白區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從「可疑人物名單」到「案件卷宗」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6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原本：暗黑基因清單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9572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A6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1,245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0358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個癌症相關基因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52044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像一份「可疑人物名單」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只告訴你這個基因跟癌症有關，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不告訴你是哪一種疾病、證據有多強。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303520" cy="3566160"/>
          </a:xfrm>
          <a:prstGeom prst="roundRect">
            <a:avLst>
              <a:gd name="adj" fmla="val 2051"/>
            </a:avLst>
          </a:prstGeom>
          <a:solidFill>
            <a:srgbClr val="F3EDFA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83680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5F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補上：可編碼蛋白區（GenCC）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395728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B5F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約 30,000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3035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筆「基因 → 疾病」判定，是前者的 20～30 倍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352044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像一份份「案件卷宗」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這個基因涉入哪一樁疾病、證據等級是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「確鑿」還是「有限」、遺傳模式為何。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5623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資料由 ClinGen、PanelApp 等國際專家小組審查後彙整。前者幫你縮小範圍，後者才能拿來論證。</a:t>
            </a:r>
            <a:endParaRPr lang="en-US" sz="14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靶點標準化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一邊寫本名，一邊寫綽號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4937760" cy="1371600"/>
          </a:xfrm>
          <a:prstGeom prst="roundRect">
            <a:avLst>
              <a:gd name="adj" fmla="val 5333"/>
            </a:avLst>
          </a:prstGeom>
          <a:solidFill>
            <a:srgbClr val="FBF4E6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中藥資料庫記錄的是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317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Androgen receptor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614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（雄激素受體．蛋白質全名）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715000" y="2240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629400" y="1874520"/>
            <a:ext cx="4937760" cy="1371600"/>
          </a:xfrm>
          <a:prstGeom prst="roundRect">
            <a:avLst>
              <a:gd name="adj" fmla="val 5333"/>
            </a:avLst>
          </a:prstGeom>
          <a:solidFill>
            <a:srgbClr val="EAF2EC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903720" y="20116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其他功能拿去比對的是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903720" y="23317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27614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（基因代號）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35204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「Androgen receptor」這串字裡，永遠不會出現「AR」——結果是一個都對不上。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4251960"/>
            <a:ext cx="10972800" cy="1737360"/>
          </a:xfrm>
          <a:prstGeom prst="roundRect">
            <a:avLst>
              <a:gd name="adj" fmla="val 4211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14400" y="44805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053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最危險的地方：它不會報錯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91947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畫面不會顯示「比對失敗」，只會顯示「沒有關聯」——看起來就像一個研究結論。在修好之前，平台上三個已經在用的功能，輸出結果都帶著這個沒被發現的系統性誤差。</a:t>
            </a:r>
            <a:endParaRPr lang="en-US" sz="15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靶點標準化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修好之後，比對率提升 7 倍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920240"/>
          <a:ext cx="60350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040880" y="1965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9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72.2%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915400" y="20116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蛋白質名稱解析覆蓋率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040880" y="30449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82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1,258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915400" y="309067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順手取得的通路對照資料，直接成為下一步的輸入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040880" y="412394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9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個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8915400" y="4169664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既有功能的準確度同時提升，而且都不用改寫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" y="5257800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914400" y="54406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為什麼是 18% 而不是 100%？這已經接近真實上限——中藥資料庫收錄的蛋白質偏向「容易被藥物作用」的那一類，而癌症基因清單裡有大量目前根本無法用藥物作用的基因。硬追反而會製造假關聯。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通路富集分析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重點不是打到幾個點，是這些點在哪裡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011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常見的說法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31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「本方命中 200 個靶點」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聽起來很厲害，但在藥理學上，命中數多通常是壞消息——代表這個成分到處亂碰，選擇性差、副作用風險高。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303520" cy="2194560"/>
          </a:xfrm>
          <a:prstGeom prst="roundRect">
            <a:avLst>
              <a:gd name="adj" fmla="val 3333"/>
            </a:avLst>
          </a:prstGeom>
          <a:solidFill>
            <a:srgbClr val="EAF2EC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83680" y="20116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該問的問題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3317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這些點集中在哪條路線上？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8803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個點散落各處可能只是隨機；若其中 6 個全部落在同一條生產線上，那才像是有目的。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94360" y="4343400"/>
            <a:ext cx="10972800" cy="1691640"/>
          </a:xfrm>
          <a:prstGeom prst="roundRect">
            <a:avLst>
              <a:gd name="adj" fmla="val 4324"/>
            </a:avLst>
          </a:prstGeom>
          <a:solidFill>
            <a:srgbClr val="FBF4E6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14400" y="45262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統計上最重要的一條規矩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8920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一次對好幾千條路線做檢定，就算資料全部是雜訊，也會有一百多條「看起來顯著」。這是機率問題，不是發現。所以平台一律看校正後的數值，不看原始數值——不校正等於在量產假發現。</a:t>
            </a:r>
            <a:endParaRPr lang="en-US" sz="15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通路富集分析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人參的分析結果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349240" cy="2240280"/>
          </a:xfrm>
          <a:prstGeom prst="roundRect">
            <a:avLst>
              <a:gd name="adj" fmla="val 3265"/>
            </a:avLst>
          </a:prstGeom>
          <a:solidFill>
            <a:srgbClr val="EAF2EC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93852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A9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19.2 倍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7432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人參的活性成分，作用目標明顯集中在「細胞凋亡」這條路線上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3649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通過嚴格校正，且與人參皂苷的既有文獻一致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303520" cy="2240280"/>
          </a:xfrm>
          <a:prstGeom prst="roundRect">
            <a:avLst>
              <a:gd name="adj" fmla="val 3265"/>
            </a:avLst>
          </a:prstGeom>
          <a:solidFill>
            <a:srgbClr val="FBF4E6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83680" y="19385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9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同時也發現安全訊號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37744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另一條顯著的路線是肝臟代謝酵素，指向人參可能影響化療藥物的代謝速度。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對癌症病人來說，這個資訊的實際意義不低於抗腫瘤機轉。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94360" y="4297680"/>
            <a:ext cx="10972800" cy="1783080"/>
          </a:xfrm>
          <a:prstGeom prst="roundRect">
            <a:avLst>
              <a:gd name="adj" fmla="val 4103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448056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兩個必須說清楚的限制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84632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一、</a:t>
            </a:r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凋亡與 p53 兩條路線的命中基因有五個完全相同，這是同一個發現被算進兩條定義，不是兩項獨立證據。</a:t>
            </a:r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二、</a:t>
            </a:r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「化學致癌物受體活化」聽起來像癌症通路，實際命中的是肝臟代謝酵素——絕不能寫成「人參作用於癌症通路」。</a:t>
            </a:r>
            <a:endParaRPr lang="en-US" sz="14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成分標準化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只有菜名，沒有條碼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48132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中藥資料庫裡的成分只有名字，沒有化學結構——沒有結構式、沒有國際編碼、沒有登記號。就像一份食材清單只寫了菜名，沒辦法跟任何庫存系統對帳。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10972800" cy="1828800"/>
          </a:xfrm>
          <a:prstGeom prst="roundRect">
            <a:avLst>
              <a:gd name="adj" fmla="val 4000"/>
            </a:avLst>
          </a:prstGeom>
          <a:solidFill>
            <a:srgbClr val="EAF2EC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254203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9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這一步有一個獨門的驗算方法：分子量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7180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中藥資料庫本身就記錄了每個成分的分子量。所以每查到一筆結果，都可以拿分子量去核對——兩邊名字一樣但分子量對不上，就代表查到的很可能是另一個化合物。這種一律送人工確認，絕不自動採用。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94360" y="4434840"/>
            <a:ext cx="10972800" cy="1645920"/>
          </a:xfrm>
          <a:prstGeom prst="roundRect">
            <a:avLst>
              <a:gd name="adj" fmla="val 4444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14400" y="461772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為什麼這道驗算這麼重要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9834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「名字對上就當作成功」是這類工作最容易犯、也最難發現的錯。畫面上一切正常，只是那個化學結構屬於別的分子——而後續每一次分析都會照樣跑得動，不會有任何地方報錯。</a:t>
            </a:r>
            <a:endParaRPr lang="en-US" sz="15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成分標準化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人參：190 種成分中篩出的 22 種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783080"/>
          <a:ext cx="42976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029200" y="1929384"/>
            <a:ext cx="182880" cy="182880"/>
          </a:xfrm>
          <a:prstGeom prst="ellipse">
            <a:avLst/>
          </a:prstGeom>
          <a:solidFill>
            <a:srgbClr val="3A9D63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376672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種已完成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376672" y="2139696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結構式、登記號、國際編碼三者齊備，可進入細胞株驗證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0" y="2798064"/>
            <a:ext cx="182880" cy="182880"/>
          </a:xfrm>
          <a:prstGeom prst="ellipse">
            <a:avLst/>
          </a:prstGeom>
          <a:solidFill>
            <a:srgbClr val="C99A3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376672" y="2697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種是苷元誤配（待確認）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376672" y="3008376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分子量剛好差 1 個或 2 個葡萄糖單位（162.14）——查到的是帶糖的完整分子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0" y="3666744"/>
            <a:ext cx="182880" cy="182880"/>
          </a:xfrm>
          <a:prstGeom prst="ellipse">
            <a:avLst/>
          </a:prstGeom>
          <a:solidFill>
            <a:srgbClr val="C99A3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376672" y="3566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種只差一個氫（待確認）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376672" y="3877056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花生四烯酸的酸式與陰離子式，其實是同一個化合物，可直接確認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0" y="4535424"/>
            <a:ext cx="182880" cy="182880"/>
          </a:xfrm>
          <a:prstGeom prst="ellipse">
            <a:avLst/>
          </a:prstGeom>
          <a:solidFill>
            <a:srgbClr val="C0533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376672" y="4434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種查無結果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5376672" y="4745736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需改用化學登記號等第二種方式查詢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983480" y="5349240"/>
            <a:ext cx="6675120" cy="914400"/>
          </a:xfrm>
          <a:prstGeom prst="roundRect">
            <a:avLst>
              <a:gd name="adj" fmla="val 8000"/>
            </a:avLst>
          </a:prstGeom>
          <a:solidFill>
            <a:srgbClr val="FBF4E6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5257800" y="553212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要誠實說明的一點：人參最有名的人參皂苷，大多不在這 22 種裡——它們分子太大、口服吸收率低，第一道門檻就被刷掉了。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3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772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一條貫穿五項功能的教訓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2588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程式跑得動、數字合理、畫面正常——</a:t>
            </a:r>
            <a:endParaRPr lang="en-US" sz="3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但比較的基準選錯了，它回答的是另一個問題。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2468880" cy="1691640"/>
          </a:xfrm>
          <a:prstGeom prst="roundRect">
            <a:avLst>
              <a:gd name="adj" fmla="val 4324"/>
            </a:avLst>
          </a:prstGeom>
          <a:solidFill>
            <a:srgbClr val="1E44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32688" y="3401568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靶點比對失敗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3931920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顯示成「沒有關聯」，看起來像研究結論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56432" y="3200400"/>
            <a:ext cx="2468880" cy="1691640"/>
          </a:xfrm>
          <a:prstGeom prst="roundRect">
            <a:avLst>
              <a:gd name="adj" fmla="val 4324"/>
            </a:avLst>
          </a:prstGeom>
          <a:solidFill>
            <a:srgbClr val="1E443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0" y="3401568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通路不做校正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3931920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每一條路線都會顯著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81344" y="3200400"/>
            <a:ext cx="2468880" cy="1691640"/>
          </a:xfrm>
          <a:prstGeom prst="roundRect">
            <a:avLst>
              <a:gd name="adj" fmla="val 4324"/>
            </a:avLst>
          </a:prstGeom>
          <a:solidFill>
            <a:srgbClr val="1E443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82512" y="3401568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覆蓋率分母錯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382512" y="3931920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進度永遠不會歸零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06256" y="3200400"/>
            <a:ext cx="2468880" cy="1691640"/>
          </a:xfrm>
          <a:prstGeom prst="roundRect">
            <a:avLst>
              <a:gd name="adj" fmla="val 4324"/>
            </a:avLst>
          </a:prstGeom>
          <a:solidFill>
            <a:srgbClr val="1E443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07424" y="3401568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名稱後綴被剝掉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107424" y="3931920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會「成功地」查到另一個化合物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3949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對一個科研平台來說，一個「不會報錯」的錯誤，代價遠高於一次明顯的當機——因為分析結果會被當成研究依據引用。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後續重點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接下來的五件事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38912" cy="438912"/>
          </a:xfrm>
          <a:prstGeom prst="ellipse">
            <a:avLst/>
          </a:prstGeom>
          <a:solidFill>
            <a:srgbClr val="C053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7452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處理 81 筆錯誤的分子對應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181965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資料風險，不是進度。必須在清理待確認佇列之前完成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679192"/>
            <a:ext cx="438912" cy="438912"/>
          </a:xfrm>
          <a:prstGeom prst="ellipse">
            <a:avLst/>
          </a:prstGeom>
          <a:solidFill>
            <a:srgbClr val="3B82C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724912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6334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細胞株驗證的畫面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267004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資料與分析都完成了，但使用者還看不到第 6 站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529584"/>
            <a:ext cx="438912" cy="438912"/>
          </a:xfrm>
          <a:prstGeom prst="ellipse">
            <a:avLst/>
          </a:prstGeom>
          <a:solidFill>
            <a:srgbClr val="8B5FB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575304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4838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成分與蛋白質關聯的來源分層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35204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有一群基因同時出現在兩站，指向原始資料可能有系統性偏差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379976"/>
            <a:ext cx="438912" cy="438912"/>
          </a:xfrm>
          <a:prstGeom prst="ellipse">
            <a:avLst/>
          </a:prstGeom>
          <a:solidFill>
            <a:srgbClr val="C99A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425696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342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人參補齊到 22 種全數完成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437083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改用化學登記號做第二層查詢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5230368"/>
            <a:ext cx="438912" cy="438912"/>
          </a:xfrm>
          <a:prstGeom prst="ellipse">
            <a:avLst/>
          </a:prstGeom>
          <a:solidFill>
            <a:srgbClr val="3A9D6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27608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1846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文獻證據分級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0" y="522122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流程中唯一還沒開始的一站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6035040"/>
            <a:ext cx="10927080" cy="621792"/>
          </a:xfrm>
          <a:prstGeom prst="roundRect">
            <a:avLst>
              <a:gd name="adj" fmla="val 11765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14400" y="618134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本平台為科研輔助工具。所有分析結果為公開資料庫的統計關聯，不作為醫療診斷或治療建議。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中藥腫瘤篩選平台　開發進度說明</dc:title>
  <dc:subject>PptxGenJS Presentation</dc:subject>
  <dc:creator>中藥腫瘤篩選平台</dc:creator>
  <cp:lastModifiedBy>中藥腫瘤篩選平台</cp:lastModifiedBy>
  <cp:revision>1</cp:revision>
  <dcterms:created xsi:type="dcterms:W3CDTF">2026-09-16T01:40:12Z</dcterms:created>
  <dcterms:modified xsi:type="dcterms:W3CDTF">2026-09-16T01:40:12Z</dcterms:modified>
</cp:coreProperties>
</file>