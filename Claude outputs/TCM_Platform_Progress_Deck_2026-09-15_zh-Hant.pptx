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權重</c:v>
                </c:pt>
              </c:strCache>
            </c:strRef>
          </c:tx>
          <c:spPr>
            <a:solidFill>
              <a:srgbClr val="C99A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9A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93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安全訊號加成</c:v>
                  </c:pt>
                  <c:pt idx="1">
                    <c:v>時效性</c:v>
                  </c:pt>
                  <c:pt idx="2">
                    <c:v>研究設計</c:v>
                  </c:pt>
                  <c:pt idx="3">
                    <c:v>證據成熟度</c:v>
                  </c:pt>
                  <c:pt idx="4">
                    <c:v>來源權威度</c:v>
                  </c:pt>
                  <c:pt idx="5">
                    <c:v>主題相關度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</c:v>
                </c:pt>
                <c:pt idx="1">
                  <c:v>0.12</c:v>
                </c:pt>
                <c:pt idx="2">
                  <c:v>0.16</c:v>
                </c:pt>
                <c:pt idx="3">
                  <c:v>0.2</c:v>
                </c:pt>
                <c:pt idx="4">
                  <c:v>0.22</c:v>
                </c:pt>
                <c:pt idx="5">
                  <c:v>0.3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3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6"/>
          <c:min val="0"/>
        </c:scaling>
        <c:delete val="0"/>
        <c:axPos val="b"/>
        <c:majorGridlines>
          <c:spPr>
            <a:ln w="12700" cap="flat">
              <a:solidFill>
                <a:srgbClr val="E4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癌症基因比對率</c:v>
                </c:pt>
              </c:strCache>
            </c:strRef>
          </c:tx>
          <c:spPr>
            <a:solidFill>
              <a:srgbClr val="8A939E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430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39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9D6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標準化前</c:v>
                  </c:pt>
                  <c:pt idx="1">
                    <c:v>標準化後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2.6</c:v>
                </c:pt>
                <c:pt idx="1">
                  <c:v>18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430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430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</c:scaling>
        <c:delete val="0"/>
        <c:axPos val="l"/>
        <c:majorGridlines>
          <c:spPr>
            <a:ln w="12700" cap="flat">
              <a:solidFill>
                <a:srgbClr val="E4E9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93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處理狀態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A9D63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C99A3D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0533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自動採用 17</c:v>
                </c:pt>
                <c:pt idx="1">
                  <c:v>待確認 4</c:v>
                </c:pt>
                <c:pt idx="2">
                  <c:v>查無結果 1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</c:v>
                </c:pt>
                <c:pt idx="1">
                  <c:v>4</c:v>
                </c:pt>
                <c:pt idx="2">
                  <c:v>1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30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本簡報對應同日的完整說明報告。五項功能：新聞管理、可編碼蛋白區、通路富集分析、靶點標準化、成分標準化。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人參 190 種成分、22 種通過 ADME 篩選、118 個對應靶點，都是平台實測數字。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4.5 站（通路）在簡報中併為第 5 站呈現，細胞驗證為第 6 站。研究報告站尚未開始，未列入。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五項對應第 2、3、4、4.5 站，加上橫跨全流程的新聞情報監測。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安全訊號優先是平台定位的核心：科研輔助與安全監測，不是療效推薦。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2026-09-15 實測：抓取 49 篇、過濾 33、重複 16，10 個來源全數正常，10.5 秒完成。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來源清單依《中藥與腫瘤｜10 個權威官方追蹤網站》整理。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資料量差異造成設計差異：暗黑基因可整包載入瀏覽器，GenCC 必須改成搜尋驅動。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1,751 個靶點中 1,573 個是含空白的全名，只有 4 個長得像基因代號。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18.0% = 224/1245。標準化覆蓋 1265/1751。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使用超幾何檢定 + Benjamini–Hochberg 校正，測試以精確有理數運算對照，最大誤差 7.8e-13。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細胞凋亡 hsa04215：6/32 命中、19.2 倍、q=4.91e-6。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驗算刻意分三種結果：相符、不符、無法驗證。把缺資料當成通過等於讓驗證形同虛設。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 22 種清單與逐項說明見報告第八章。三筆苷元誤配為全庫 81 筆同類問題的縮影。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這些判讀規範已全部寫進平台開發規範文件，並建立對應的自動測試。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項優先度最高：錯誤分子一旦進入資料庫不會報錯，且會污染下游所有分析。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463040"/>
            <a:ext cx="4754880" cy="475488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E4433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417320"/>
            <a:ext cx="237744" cy="237744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5" name="Shape 3"/>
          <p:cNvSpPr/>
          <p:nvPr/>
        </p:nvSpPr>
        <p:spPr>
          <a:xfrm>
            <a:off x="1225296" y="1417320"/>
            <a:ext cx="237744" cy="237744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6" name="Shape 4"/>
          <p:cNvSpPr/>
          <p:nvPr/>
        </p:nvSpPr>
        <p:spPr>
          <a:xfrm>
            <a:off x="1609344" y="1417320"/>
            <a:ext cx="237744" cy="237744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1417320"/>
            <a:ext cx="237744" cy="237744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1417320"/>
            <a:ext cx="237744" cy="237744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196596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中藥腫瘤篩選平台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8803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開發進度說明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給一般讀者的簡報　—　用白話解釋我們做了什麼、為什麼要做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5394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9 月 15 日　｜　正式環境版本 v1.41.6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57790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科研輔助工具　·　不作為醫療診斷或治療建議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先講清楚問題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一味中藥，要拆成幾層才看得懂？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人參登錄的化學成分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3484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人體真正吸收得了的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18388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9077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這些成分作用的蛋白質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77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一味藥裡有幾十到幾百種成分，每種成分又可能作用在好幾種蛋白質上。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389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用手工整理，一個人光一味藥就要好幾個月，而且</a:t>
            </a:r>
            <a:pPr indent="0" marL="0">
              <a:buNone/>
            </a:pPr>
            <a:r>
              <a:rPr lang="en-US" sz="18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每個人整理出來的結果還可能不一樣</a:t>
            </a:r>
            <a:pPr indent="0" marL="0">
              <a:buNone/>
            </a:pPr>
            <a:r>
              <a:rPr lang="en-US" sz="18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——因為各個資料庫用的名字、格式都不同。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這個平台要做的，就是把這件事變成一條可以重複、可以被檢查的自動化流程。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平台架構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整條流程像一條生產線，共六站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240280"/>
            <a:ext cx="502920" cy="50292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中藥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這味藥有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哪些成分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42316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17520" y="2240280"/>
            <a:ext cx="502920" cy="50292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1752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結構長怎樣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吸收得了嗎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42316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進行中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11480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34340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240280"/>
            <a:ext cx="502920" cy="50292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3776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靶點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43484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會接到哪些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蛋白質上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6364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2240280"/>
            <a:ext cx="502920" cy="50292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疾病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跟哪些疾病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有關聯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818388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778240" y="2240280"/>
            <a:ext cx="502920" cy="50292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77824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是否集中在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同一條路線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9875520" y="28346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0104120" y="2011680"/>
            <a:ext cx="1691640" cy="2514600"/>
          </a:xfrm>
          <a:prstGeom prst="roundRect">
            <a:avLst>
              <a:gd name="adj" fmla="val 4324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10698480" y="2240280"/>
            <a:ext cx="502920" cy="50292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10698480" y="23180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0104120" y="2880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細胞驗證</a:t>
            </a:r>
            <a:endParaRPr lang="en-US" sz="1700" dirty="0"/>
          </a:p>
        </p:txBody>
      </p:sp>
      <p:sp>
        <p:nvSpPr>
          <p:cNvPr id="43" name="Text 41"/>
          <p:cNvSpPr txBox="1"/>
          <p:nvPr/>
        </p:nvSpPr>
        <p:spPr>
          <a:xfrm>
            <a:off x="10195560" y="3246120"/>
            <a:ext cx="1508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癌細胞真的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活不下去嗎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04120" y="4041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資料完成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02920" y="4892040"/>
            <a:ext cx="11155680" cy="1143000"/>
          </a:xfrm>
          <a:prstGeom prst="roundRect">
            <a:avLst>
              <a:gd name="adj" fmla="val 64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46" name="Text 44"/>
          <p:cNvSpPr txBox="1"/>
          <p:nvPr/>
        </p:nvSpPr>
        <p:spPr>
          <a:xfrm>
            <a:off x="777240" y="504748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為什麼順序不能顛倒？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777240" y="537667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沒有先把蛋白質的名字統一（第 3 站），第 5 站的通路分析就沒有正確的輸入；沒有通路分析給出的機轉假說，第 6 站的細胞實驗資料只會是一堆看不懂的數字。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這次完成的五項功能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856232"/>
            <a:ext cx="457200" cy="457200"/>
          </a:xfrm>
          <a:prstGeom prst="ellipse">
            <a:avLst/>
          </a:prstGeom>
          <a:solidFill>
            <a:srgbClr val="4A7C8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1109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01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新聞管理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18379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每天自動追蹤 10 個權威官方網站，用證據可信度排序，不是用熱度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724912"/>
            <a:ext cx="457200" cy="457200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277977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可編碼蛋白區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3703320" y="270662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把「這個基因跟癌症有關」升級成「是哪個疾病、證據多強」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85800" y="3593592"/>
            <a:ext cx="457200" cy="45720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64845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通路富集分析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57530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從一份靶點名單，進到「這些蛋白集中在哪條生產線」的機轉假說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" y="4462272"/>
            <a:ext cx="457200" cy="45720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5171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4074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靶點標準化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703320" y="44439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統一蛋白質的名字，讓比對率從 2.6% 提升到 18.0%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85800" y="5330952"/>
            <a:ext cx="457200" cy="45720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" y="538581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76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成分標準化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3703320" y="531266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替中藥成分補上化學結構與國際編碼，才能跟外部資料庫對帳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這五項不是各自獨立的功能，而是同一條流程上前後相扣的五步。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新聞管理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為什麼不能照「熱門程度」追新聞？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同一天可能出現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95728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一篇嚴謹的大型臨床試驗報告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以及一篇只做了細胞實驗、卻被寫成「抗癌新突破」的新聞稿。</a:t>
            </a:r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而後者在網路上傳播得快得多。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37960" y="2011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更容易被埋沒的一類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395728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中藥與化療藥物的交互作用警訊。例如某種中藥會影響肝臟代謝酵素，讓化療藥在體內濃度變高或變低。</a:t>
            </a: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endParaRPr lang="en-US" sz="155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這對正在治療的病人非常重要，卻幾乎沒有新聞熱度。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94360" y="4572000"/>
            <a:ext cx="10972800" cy="1280160"/>
          </a:xfrm>
          <a:prstGeom prst="roundRect">
            <a:avLst>
              <a:gd name="adj" fmla="val 5714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736592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所以這個功能的目標不是「新聞聚合」，而是——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用證據可信度來排序的情報監測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新聞管理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排序看的是證據，不是熱度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78308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956816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63524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時效性的權重最低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194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新不代表可信。這是刻意的設計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0" y="2889504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635240" y="2807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安全訊號額外加分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1272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交互作用、肝腎毒性一律優先上版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0" y="3822192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35240" y="3739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臨床前研究自動降分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635240" y="4059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細胞與動物實驗標註「不可推論至病患層級」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0" y="4754880"/>
            <a:ext cx="164592" cy="16459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635240" y="467258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單一來源每天最多 4 篇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635240" y="499262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避免資料量大的來源洗版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新聞管理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固定追蹤的 10 個權威官方網站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挑選標準不是「哪個講中藥抗癌講得最好」，而是機構權威性、資料可追溯性與安全資訊的重要性。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9552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全球政策與美國癌症研究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傳統醫學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世界衛生組織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美國國家癌症研究所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9552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OCCAM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 補充替代醫學辦公室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54456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天然物研究、文獻與試驗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4456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456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美國國家補充與整合健康中心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4456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PubMed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4456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美國國家醫學圖書館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ClinicalTrials.gov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美國國家醫學圖書館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965960"/>
            <a:ext cx="3520440" cy="3200400"/>
          </a:xfrm>
          <a:prstGeom prst="roundRect">
            <a:avLst>
              <a:gd name="adj" fmla="val 2286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293608" y="2121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5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癌症中心與中國官方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25420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整合醫學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93608" y="27980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紀念斯隆凱特琳癌症中心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293608" y="31638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About Herbs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293608" y="3419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MSK 整合醫學團隊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93608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中國衛健委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40416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中國中央政府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293608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中國中醫藥管理局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293608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中國中央政府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94360" y="5394960"/>
            <a:ext cx="10972800" cy="868680"/>
          </a:xfrm>
          <a:prstGeom prst="roundRect">
            <a:avLst>
              <a:gd name="adj" fmla="val 842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14400" y="559612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共同前提：這些來源是用來「查證」的，不是用來找答案的。政策支持不等於療效驗證，論文被收錄不代表結論正確，試驗登錄不等於有效。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可編碼蛋白區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從「可疑人物名單」到「案件卷宗」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原本：暗黑基因清單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957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1,245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03580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個癌症相關基因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204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像一份「可疑人物名單」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只告訴你這個基因跟癌症有關，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不告訴你是哪一種疾病、證據有多強。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3EDF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補上：可編碼蛋白區（GenCC）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395728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5F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 30,000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035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筆「基因 → 疾病」判定，是前者的 20～30 倍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3520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像一份份「案件卷宗」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這個基因涉入哪一樁疾病、證據等級是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「確鑿」還是「有限」、遺傳模式為何。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資料由 ClinGen、PanelApp 等國際專家小組審查後彙整。前者幫你縮小範圍，後者才能拿來論證。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靶點標準化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一邊寫本名，一邊寫綽號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中藥資料庫記錄的是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Androgen receptor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（雄激素受體．蛋白質全名）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15000" y="2240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629400" y="18745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03720" y="2011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其他功能拿去比對的是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23317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（基因代號）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「Androgen receptor」這串字裡，永遠不會出現「AR」——結果是一個都對不上。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4480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053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最危險的地方：它不會報錯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19472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畫面不會顯示「比對失敗」，只會顯示「沒有關聯」——看起來就像一個研究結論。在修好之前，平台上三個已經在用的功能，輸出結果都帶著這個沒被發現的系統性誤差。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靶點標準化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修好之後，比對率提升 7 倍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920240"/>
          <a:ext cx="6035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040880" y="1965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20116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蛋白質名稱解析覆蓋率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30449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1,258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915400" y="309067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順手取得的通路對照資料，直接成為下一步的輸入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040880" y="412394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個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416966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既有功能的準確度同時提升，而且都不用改寫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525780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為什麼是 18% 而不是 100%？這已經接近真實上限——中藥資料庫收錄的蛋白質偏向「容易被藥物作用」的那一類，而癌症基因清單裡有大量目前根本無法用藥物作用的基因。硬追反而會製造假關聯。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通路富集分析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重點不是打到幾個點，是這些點在哪裡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常見的說法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31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「本方命中 200 個靶點」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聽起來很厲害，但在藥理學上，命中數多通常是壞消息——代表這個成分到處亂碰，選擇性差、副作用風險高。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011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9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該問的問題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317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這些點集中在哪條路線上？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880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個點散落各處可能只是隨機；若其中 6 個全部落在同一條生產線上，那才像是有目的。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4343400"/>
            <a:ext cx="10972800" cy="1691640"/>
          </a:xfrm>
          <a:prstGeom prst="roundRect">
            <a:avLst>
              <a:gd name="adj" fmla="val 4324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526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統計上最重要的一條規矩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一次對好幾千條路線做檢定，就算資料全部是雜訊，也會有一百多條「看起來顯著」。這是機率問題，不是發現。所以平台一律看校正後的數值，不看原始數值——不校正等於在量產假發現。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通路富集分析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人參的分析結果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5349240" cy="2240280"/>
          </a:xfrm>
          <a:prstGeom prst="roundRect">
            <a:avLst>
              <a:gd name="adj" fmla="val 3265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385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19.2 倍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43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人參的活性成分，作用目標明顯集中在「細胞凋亡」這條路線上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64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通過嚴格校正，且與人參皂苷的既有文獻一致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03520" cy="2240280"/>
          </a:xfrm>
          <a:prstGeom prst="roundRect">
            <a:avLst>
              <a:gd name="adj" fmla="val 3265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19385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9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同時也發現安全訊號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3774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另一條顯著的路線是肝臟代謝酵素，指向人參可能影響化療藥物的代謝速度。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對癌症病人來說，這個資訊的實際意義不低於抗腫瘤機轉。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94360" y="4297680"/>
            <a:ext cx="10972800" cy="1783080"/>
          </a:xfrm>
          <a:prstGeom prst="roundRect">
            <a:avLst>
              <a:gd name="adj" fmla="val 4103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448056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兩個必須說清楚的限制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84632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一、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凋亡與 p53 兩條路線的命中基因有五個完全相同，這是同一個發現被算進兩條定義，不是兩項獨立證據。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二、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「化學致癌物受體活化」聽起來像癌症通路，實際命中的是肝臟代謝酵素——絕不能寫成「人參作用於癌症通路」。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成分標準化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只有菜名，沒有條碼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48132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中藥資料庫裡的成分只有名字，沒有化學結構——沒有結構式、沒有國際編碼、沒有登記號。就像一份食材清單只寫了菜名，沒辦法跟任何庫存系統對帳。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0972800" cy="1828800"/>
          </a:xfrm>
          <a:prstGeom prst="roundRect">
            <a:avLst>
              <a:gd name="adj" fmla="val 4000"/>
            </a:avLst>
          </a:prstGeom>
          <a:solidFill>
            <a:srgbClr val="EAF2EC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9D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這一步有一個獨門的驗算方法：分子量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718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中藥資料庫本身就記錄了每個成分的分子量。所以每查到一筆結果，都可以拿分子量去核對——兩邊名字一樣但分子量對不上，就代表查到的很可能是另一個化合物。這種一律送人工確認，絕不自動採用。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94360" y="4434840"/>
            <a:ext cx="10972800" cy="1645920"/>
          </a:xfrm>
          <a:prstGeom prst="roundRect">
            <a:avLst>
              <a:gd name="adj" fmla="val 4444"/>
            </a:avLst>
          </a:prstGeom>
          <a:solidFill>
            <a:srgbClr val="FCEEEA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14400" y="46177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為什麼這道驗算這麼重要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「名字對上就當作成功」是這類工作最容易犯、也最難發現的錯。畫面上一切正常，只是那個化學結構屬於別的分子——而後續每一次分析都會照樣跑得動，不會有任何地方報錯。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成分標準化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人參：190 種成分中篩出的 22 種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783080"/>
          <a:ext cx="42976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29200" y="1929384"/>
            <a:ext cx="182880" cy="182880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76672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種已完成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376672" y="213969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結構式、登記號、國際編碼三者齊備，可進入細胞株驗證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0" y="2798064"/>
            <a:ext cx="182880" cy="18288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76672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種是苷元誤配（待確認）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376672" y="30083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分子量剛好差 1 個或 2 個葡萄糖單位（162.14）——查到的是帶糖的完整分子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0" y="3666744"/>
            <a:ext cx="182880" cy="182880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76672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種只差一個氫（待確認）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376672" y="38770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花生四烯酸的酸式與陰離子式，其實是同一個化合物，可直接確認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0" y="4535424"/>
            <a:ext cx="182880" cy="182880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76672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種查無結果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376672" y="474573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需改用化學登記號等第二種方式查詢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983480" y="534924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BF4E6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257800" y="5532120"/>
            <a:ext cx="6126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要誠實說明的一點：人參最有名的人參皂苷，大多不在這 22 種裡——它們分子太大、口服吸收率低，第一道門檻就被刷掉了。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一條貫穿五項功能的教訓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2588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程式跑得動、數字合理、畫面正常——</a:t>
            </a:r>
            <a:endParaRPr lang="en-US" sz="3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但比較的基準選錯了，它回答的是另一個問題。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靶點比對失敗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顯示成「沒有關聯」，看起來像研究結論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56432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57600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通路不做校正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每一條路線都會顯著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81344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82512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覆蓋率分母錯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382512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進度永遠不會歸零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06256" y="3200400"/>
            <a:ext cx="2468880" cy="1691640"/>
          </a:xfrm>
          <a:prstGeom prst="roundRect">
            <a:avLst>
              <a:gd name="adj" fmla="val 4324"/>
            </a:avLst>
          </a:prstGeom>
          <a:solidFill>
            <a:srgbClr val="1E44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07424" y="340156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名稱後綴被剝掉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07424" y="3931920"/>
            <a:ext cx="2066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會「成功地」查到另一個化合物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3949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對一個科研平台來說，一個「不會報錯」的錯誤，代價遠高於一次明顯的當機——因為分析結果會被當成研究依據引用。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後續重點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接下來的五件事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38912" cy="438912"/>
          </a:xfrm>
          <a:prstGeom prst="ellipse">
            <a:avLst/>
          </a:prstGeom>
          <a:solidFill>
            <a:srgbClr val="C053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 81 筆錯誤的分子對應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0" y="18196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資料風險，不是進度。必須在清理待確認佇列之前完成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438912" cy="438912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24912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334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細胞株驗證的畫面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6700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資料與分析都完成了，但使用者還看不到第 6 站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438912" cy="438912"/>
          </a:xfrm>
          <a:prstGeom prst="ellipse">
            <a:avLst/>
          </a:prstGeom>
          <a:solidFill>
            <a:srgbClr val="8B5FB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75304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83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成分與蛋白質關聯的來源分層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5204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有一群基因同時出現在兩站，指向原始資料可能有系統性偏差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379976"/>
            <a:ext cx="438912" cy="438912"/>
          </a:xfrm>
          <a:prstGeom prst="ellipse">
            <a:avLst/>
          </a:prstGeom>
          <a:solidFill>
            <a:srgbClr val="C99A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25696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342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人參補齊到 22 種全數完成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437083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改用化學登記號做第二層查詢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230368"/>
            <a:ext cx="438912" cy="438912"/>
          </a:xfrm>
          <a:prstGeom prst="ellipse">
            <a:avLst/>
          </a:prstGeom>
          <a:solidFill>
            <a:srgbClr val="3A9D6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276088"/>
            <a:ext cx="438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文獻證據分級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52212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流程中唯一還沒開始的一站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6035040"/>
            <a:ext cx="10927080" cy="621792"/>
          </a:xfrm>
          <a:prstGeom prst="roundRect">
            <a:avLst>
              <a:gd name="adj" fmla="val 11765"/>
            </a:avLst>
          </a:prstGeom>
          <a:solidFill>
            <a:srgbClr val="F2F5F3"/>
          </a:solidFill>
          <a:ln/>
          <a:effectLst>
            <a:outerShdw sx="100000" sy="100000" kx="0" ky="0" algn="bl" rotWithShape="0" blurRad="76200" dist="12700" dir="5400000">
              <a:srgbClr val="9AA5A0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14400" y="61813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本平台為科研輔助工具。所有分析結果為公開資料庫的統計關聯，不作為醫療診斷或治療建議。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中藥腫瘤篩選平台　開發進度說明</dc:title>
  <dc:subject>PptxGenJS Presentation</dc:subject>
  <dc:creator>中藥腫瘤篩選平台</dc:creator>
  <cp:lastModifiedBy>中藥腫瘤篩選平台</cp:lastModifiedBy>
  <cp:revision>1</cp:revision>
  <dcterms:created xsi:type="dcterms:W3CDTF">2026-09-15T18:42:30Z</dcterms:created>
  <dcterms:modified xsi:type="dcterms:W3CDTF">2026-09-15T18:42:30Z</dcterms:modified>
</cp:coreProperties>
</file>