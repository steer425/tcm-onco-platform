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權重</c:v>
                </c:pt>
              </c:strCache>
            </c:strRef>
          </c:tx>
          <c:spPr>
            <a:solidFill>
              <a:srgbClr val="C99A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9A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3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9D6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9D6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A9D6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A9D6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安全訊號加成</c:v>
                  </c:pt>
                  <c:pt idx="1">
                    <c:v>時效性</c:v>
                  </c:pt>
                  <c:pt idx="2">
                    <c:v>研究設計</c:v>
                  </c:pt>
                  <c:pt idx="3">
                    <c:v>證據成熟度</c:v>
                  </c:pt>
                  <c:pt idx="4">
                    <c:v>來源權威度</c:v>
                  </c:pt>
                  <c:pt idx="5">
                    <c:v>主題相關度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0.12</c:v>
                </c:pt>
                <c:pt idx="1">
                  <c:v>0.12</c:v>
                </c:pt>
                <c:pt idx="2">
                  <c:v>0.16</c:v>
                </c:pt>
                <c:pt idx="3">
                  <c:v>0.2</c:v>
                </c:pt>
                <c:pt idx="4">
                  <c:v>0.22</c:v>
                </c:pt>
                <c:pt idx="5">
                  <c:v>0.3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30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6"/>
          <c:min val="0"/>
        </c:scaling>
        <c:delete val="0"/>
        <c:axPos val="b"/>
        <c:majorGridlines>
          <c:spPr>
            <a:ln w="12700" cap="flat">
              <a:solidFill>
                <a:srgbClr val="E4E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癌症基因比對率</c:v>
                </c:pt>
              </c:strCache>
            </c:strRef>
          </c:tx>
          <c:spPr>
            <a:solidFill>
              <a:srgbClr val="8A939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3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9D6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標準化前</c:v>
                  </c:pt>
                  <c:pt idx="1">
                    <c:v>標準化後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2.6</c:v>
                </c:pt>
                <c:pt idx="1">
                  <c:v>18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1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430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</c:scaling>
        <c:delete val="0"/>
        <c:axPos val="l"/>
        <c:majorGridlines>
          <c:spPr>
            <a:ln w="12700" cap="flat">
              <a:solidFill>
                <a:srgbClr val="E4E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處理狀態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A9D6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99A3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0533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自動採用 17</c:v>
                </c:pt>
                <c:pt idx="1">
                  <c:v>待確認 4</c:v>
                </c:pt>
                <c:pt idx="2">
                  <c:v>查無結果 1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17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30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本演示文稿对应同日的完整说明报告。五项功能：新闻管理、可编码蛋白区、通路富集分析、靶点标准化、成分标准化。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人参 190 种成分、22 种通过 ADME 筛选、118 个对应靶点，都是平台实测数字。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4.5 站（通路）在演示文稿中并为第 5 站呈现，细胞验证为第 6 站。研究报告站尚未开始，未列入。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五项对应第 2、3、4、4.5 站，加上横跨全流程的新闻情报监测。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安全信号优先是平台定位的内核：科研辅助与安全监测，不是疗效推荐。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2026-09-15 实测：抓取 49 篇、过滤 33、重复 16，10 个来源全数正常，10.5 秒完成。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来源清单依《中药与肿瘤｜10 个权威官方追踪网站》整理。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数据量差异造成设计差异：暗黑基因可整包加载浏览器，GenCC 必须改成搜索驱动。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1,751 个靶点中 1,573 个是含空白的全名，只有 4 个长得像基因代号。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18.0% = 224/1245。标准化覆盖 1265/1751。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使用超几何检定 + Benjamini–Hochberg 校正，测试以精确有理数运算对照，最大误差 7.8e-13。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细胞凋亡 hsa04215：6/32 命中、19.2 倍、q=4.91e-6。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验算刻意分三种结果：相符、不符、无法验证。把缺数据当成通过等于让验证形同虚设。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 22 种清单与逐项说明见报告第八章。三笔苷元误配为全库 81 笔同类问题的缩影。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这些判读规范已全部写进平台开发规范文档，并创建对应的自动测试。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项优先度最高：错误分子一旦进入数据库不会报错，且会污染下游所有分析。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754880" cy="4754880"/>
          </a:xfrm>
          <a:prstGeom prst="ellipse">
            <a:avLst/>
          </a:prstGeom>
          <a:solidFill>
            <a:srgbClr val="1E4433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480560"/>
            <a:ext cx="2377440" cy="2377440"/>
          </a:xfrm>
          <a:prstGeom prst="ellipse">
            <a:avLst/>
          </a:prstGeom>
          <a:solidFill>
            <a:srgbClr val="1E4433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417320"/>
            <a:ext cx="237744" cy="237744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5" name="Shape 3"/>
          <p:cNvSpPr/>
          <p:nvPr/>
        </p:nvSpPr>
        <p:spPr>
          <a:xfrm>
            <a:off x="1225296" y="1417320"/>
            <a:ext cx="237744" cy="237744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6" name="Shape 4"/>
          <p:cNvSpPr/>
          <p:nvPr/>
        </p:nvSpPr>
        <p:spPr>
          <a:xfrm>
            <a:off x="1609344" y="1417320"/>
            <a:ext cx="237744" cy="237744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7" name="Shape 5"/>
          <p:cNvSpPr/>
          <p:nvPr/>
        </p:nvSpPr>
        <p:spPr>
          <a:xfrm>
            <a:off x="1993392" y="1417320"/>
            <a:ext cx="237744" cy="237744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8" name="Shape 6"/>
          <p:cNvSpPr/>
          <p:nvPr/>
        </p:nvSpPr>
        <p:spPr>
          <a:xfrm>
            <a:off x="2377440" y="1417320"/>
            <a:ext cx="237744" cy="237744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965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中药肿瘤筛选平台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803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开发进度说明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794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给一般读者的演示文稿　—　用白话解释我们做了什么、为什么要做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9 月 15 日　｜　正式环境版本 v1.41.6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5779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科研辅助工具　·　不作为医疗诊断或治疗建议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先讲清楚问题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一味中药，要拆成几层才看得懂？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011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B8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07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人参登录的化学成分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8745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34840" y="2011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907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人体真正吸收得了的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8745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83880" y="2011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A9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907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这些成分作用的蛋白质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77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一味药里有几十到几百种成分，每种成分又可能作用在好几种蛋白质上。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389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用手工整理，一个人光一味药就要好几个月，而且</a:t>
            </a:r>
            <a:pPr indent="0" marL="0">
              <a:buNone/>
            </a:pPr>
            <a:r>
              <a:rPr lang="en-US" sz="18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每个人整理出来的结果还可能不一样</a:t>
            </a:r>
            <a:pPr indent="0" marL="0">
              <a:buNone/>
            </a:pPr>
            <a:r>
              <a:rPr lang="en-US" sz="18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——因为各个数据库用的名字、格式都不同。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这个平台要做的，就是把这件事变成一条可以重复、可以被检查的自动化流程。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平台架构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整条流程像一条生产线，共六站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40280"/>
            <a:ext cx="502920" cy="502920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中药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这味药有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哪些成分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42316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17520" y="2240280"/>
            <a:ext cx="502920" cy="502920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1752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成分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结构长怎样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吸收得了吗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进行中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34340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240280"/>
            <a:ext cx="502920" cy="50292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3776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靶点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会接到哪些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蛋白质上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6364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2240280"/>
            <a:ext cx="502920" cy="502920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疾病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跟哪些疾病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有关联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818388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778240" y="2240280"/>
            <a:ext cx="502920" cy="502920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7824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18388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通路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827532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是否集中在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同一条路线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18388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87552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1010412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698480" y="2240280"/>
            <a:ext cx="502920" cy="502920"/>
          </a:xfrm>
          <a:prstGeom prst="ellipse">
            <a:avLst/>
          </a:prstGeom>
          <a:solidFill>
            <a:srgbClr val="4A7C8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69848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1010412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细胞验证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1019556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癌细胞真的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活不下去吗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10412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数据完成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" y="4892040"/>
            <a:ext cx="11155680" cy="1143000"/>
          </a:xfrm>
          <a:prstGeom prst="roundRect">
            <a:avLst>
              <a:gd name="adj" fmla="val 6400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777240" y="504748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为什么顺序不能颠倒？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777240" y="53766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没有先把蛋白质的名字统一（第 3 站），第 5 站的通路分析就没有正确的输入；没有通路分析给出的机转假说，第 6 站的细胞实验数据只会是一堆看不懂的数字。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这次完成的五项功能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56232"/>
            <a:ext cx="457200" cy="457200"/>
          </a:xfrm>
          <a:prstGeom prst="ellipse">
            <a:avLst/>
          </a:prstGeom>
          <a:solidFill>
            <a:srgbClr val="4A7C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110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01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新闻管理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3703320" y="183794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每天自动追踪 10 个权威官方网站，用证据可信度排序，不是用热度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2724912"/>
            <a:ext cx="457200" cy="457200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7797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70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可编码蛋白区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706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把「这个基因跟癌症有关」升级成「是哪个疾病、证据多强」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3593592"/>
            <a:ext cx="457200" cy="45720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6484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538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通路富集分析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35753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从一份靶点名单，进到「这些蛋白集中在哪条生产线」的机转假说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4462272"/>
            <a:ext cx="457200" cy="457200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5171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407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靶点标准化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44439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统一蛋白质的名字，让比对率从 2.6% 提升到 18.0%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85800" y="5330952"/>
            <a:ext cx="457200" cy="457200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538581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76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成分标准化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3703320" y="53126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替中药成分补上化学结构与国际编码，才能跟外部数据库对帐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这五项不是各自独立的功能，而是同一条流程上前后相扣的五步。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新闻管理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为什么不能照「热门程度」追新闻？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同一天可能出现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9572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一篇严谨的大型临床试验报告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以及一篇只做了细胞实验、却被写成「抗癌新突破」的新闻稿。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而后者在网络上传播得快得多。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更容易被埋没的一类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95728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中药与化疗药物的交互作用警讯。例如某种中药会影响肝脏代谢酵素，让化疗药在体内浓度变高或变低。</a:t>
            </a:r>
            <a:endParaRPr lang="en-US" sz="1550" dirty="0"/>
          </a:p>
          <a:p>
            <a:pPr indent="0" marL="0">
              <a:lnSpc>
                <a:spcPts val="2400"/>
              </a:lnSpc>
              <a:buNone/>
            </a:pPr>
            <a:endParaRPr lang="en-US" sz="15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这对正在治疗的病人非常重要，却几乎没有新闻热度。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4572000"/>
            <a:ext cx="10972800" cy="1280160"/>
          </a:xfrm>
          <a:prstGeom prst="roundRect">
            <a:avLst>
              <a:gd name="adj" fmla="val 5714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473659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所以这个功能的目标不是「新闻聚合」，而是——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1023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用证据可信度来排序的情报监测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新闻管理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排序看的是证据，不是热度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956816"/>
            <a:ext cx="164592" cy="164592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3524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时效性的权重最低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新不代表可信。这是刻意的设计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0" y="2889504"/>
            <a:ext cx="164592" cy="164592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35240" y="2807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安全信号额外加分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31272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交互作用、肝肾毒性一律优先上版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0" y="3822192"/>
            <a:ext cx="164592" cy="164592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635240" y="37398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临床前研究自动降分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0599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细胞与动物实验标注「不可推论至病患层级」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0" y="4754880"/>
            <a:ext cx="164592" cy="164592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35240" y="46725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单一来源每天最多 4 篇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635240" y="499262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避免数据量大的来源洗版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新闻管理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固定追踪的 10 个权威官方网站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挑选标准不是「哪个讲中药抗癌讲得最好」，而是机构权威性、数据可追溯性与安全信息的重要性。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95528" y="2121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全球政策与美国癌症研究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传统医学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7980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世界卫生组织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163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3419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美国国家癌症研究所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 OCCAM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4041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 补充替代医学办公室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19659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44568" y="2121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天然物研究、文献与试验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NCCIH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27980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美国国家补充与集成健康中心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44568" y="3163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3419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美国国家医学图书馆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44568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44568" y="4041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美国国家医学图书馆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92440" y="19659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93608" y="2121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癌症中心与中国官方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集成医学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93608" y="27980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纪念斯隆凯特琳癌症中心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3163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About Herbs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93608" y="3419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集成医学团队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293608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中国卫健委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93608" y="4041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中国中央政府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293608" y="4407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中国中医药管理局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293608" y="4663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中国中央政府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94360" y="539496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14400" y="55961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共同前提：这些来源是用来「查证」的，不是用来找答案的。政策支持不等于疗效验证，论文被收录不代表结论正确，试验登录不等于有效。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可编码蛋白区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从「可疑人物名单」到「案件卷宗」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原本：暗黑基因清单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A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1,245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358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个癌症相关基因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像一份「可疑人物名单」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只告诉你这个基因跟癌症有关，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不告诉你是哪一种疾病、证据有多强。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F3EDF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补上：可编码蛋白区（GenCC）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39572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5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约 30,000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035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笔「基因 → 疾病」判定，是前者的 20～30 倍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5204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像一份份「案件卷宗」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这个基因涉入哪一桩疾病、证据等级是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「确凿」还是「有限」、遗传模式为何。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数据由 ClinGen、PanelApp 等国际专家小组审查后汇整。前者帮你缩小范围，后者才能拿来论证。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靶点标准化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一边写本名，一边写绰号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中药数据库记录的是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Androgen receptor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61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（雄激素受体．蛋白质全名）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629400" y="187452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903720" y="2011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其他功能拿去比对的是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331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761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（基因代号）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520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「Androgen receptor」这串字里，永远不会出现「AR」——结果是一个都对不上。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251960"/>
            <a:ext cx="10972800" cy="1737360"/>
          </a:xfrm>
          <a:prstGeom prst="roundRect">
            <a:avLst>
              <a:gd name="adj" fmla="val 4211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480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5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最危险的地方：它不会报错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91947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画面不会显示「比对失败」，只会显示「没有关联」——看起来就像一个研究结论。在修好之前，平台上三个已经在用的功能，输出结果都带着这个没被发现的系统性误差。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靶点标准化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修好之后，比对率提升 7 倍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920240"/>
          <a:ext cx="6035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04088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9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72.2%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915400" y="2011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蛋白质名称解析覆盖率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30449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1,258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30906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顺手取得的通路对照数据，直接成为下一步的输入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412394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个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416966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既有功能的准确度同时提升，而且都不用改写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525780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为什么是 18% 而不是 100%？这已经接近真实上限——中药数据库收录的蛋白质偏向「容易被药物作用」的那一类，而癌症基因清单里有大量目前根本无法用药物作用的基因。硬追反而会制造假关联。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通路富集分析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重点不是打到几个点，是这些点在哪里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常见的说法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「本方命中 200 个靶点」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听起来很厉害，但在药理学上，命中数多通常是坏消息——代表这个成分到处乱碰，选择性差、副作用风险高。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03520" cy="2194560"/>
          </a:xfrm>
          <a:prstGeom prst="roundRect">
            <a:avLst>
              <a:gd name="adj" fmla="val 3333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2011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该问的问题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31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这些点集中在哪条路在线？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880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个点散落各处可能只是随机；若其中 6 个全部落在同一条生产在线，那才像是有目的。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343400"/>
            <a:ext cx="10972800" cy="1691640"/>
          </a:xfrm>
          <a:prstGeom prst="roundRect">
            <a:avLst>
              <a:gd name="adj" fmla="val 4324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5262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统计上最重要的一条规矩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892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一次对好几千条路线做检定，就算数据全部是杂讯，也会有一百多条「看起来显著」。这是几率问题，不是发现。所以平台一律看校正后的数值，不看原始数值——不校正等于在量产假发现。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通路富集分析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人参的分析结果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385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A9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19.2 倍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人参的活性成分，作用目标明显集中在「细胞凋亡」这条路在线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649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通过严格校正，且与人参皂苷的既有文献一致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03520" cy="2240280"/>
          </a:xfrm>
          <a:prstGeom prst="roundRect">
            <a:avLst>
              <a:gd name="adj" fmla="val 3265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938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同时也发现安全信号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774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另一条显著的路线是肝脏代谢酵素，指向人参可能影响化疗药物的代谢速度。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对癌症病人来说，这个信息的实际意义不低于抗肿瘤机转。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4297680"/>
            <a:ext cx="10972800" cy="1783080"/>
          </a:xfrm>
          <a:prstGeom prst="roundRect">
            <a:avLst>
              <a:gd name="adj" fmla="val 4103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44805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两个必须说清楚的限制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8463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一、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凋亡与 p53 两条路线的命中基因有五个完全相同，这是同一个发现被算进两条定义，不是两项独立证据。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二、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「化学致癌物受体活化」听起来像癌症通路，实际命中的是肝脏代谢酵素——绝不能写成「人参作用于癌症通路」。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成分标准化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只有菜名，没有条码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中药数据库里的成分只有名字，没有化学结构——没有结构式、没有国际编码、没有登记号。就像一份食材清单只写了菜名，没办法跟任何库存系统对帐。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0972800" cy="1828800"/>
          </a:xfrm>
          <a:prstGeom prst="roundRect">
            <a:avLst>
              <a:gd name="adj" fmla="val 4000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5420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9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这一步有一个独门的验算方法：分子量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中药数据库本身就记录了每个成分的分子量。所以每查到一笔结果，都可以拿分子量去核对——两边名字一样但分子量对不上，就代表查到的很可能是另一个化合物。这种一律送人工确认，绝不自动采用。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4434840"/>
            <a:ext cx="10972800" cy="1645920"/>
          </a:xfrm>
          <a:prstGeom prst="roundRect">
            <a:avLst>
              <a:gd name="adj" fmla="val 4444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46177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为什么这道验算这么重要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9834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「名字对上就当作成功」是这类工作最容易犯、也最难发现的错。画面上一切正常，只是那个化学结构属于别的分子——而后续每一次分析都会照样跑得动，不会有任何地方报错。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成分标准化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人参：190 种成分中筛出的 22 种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83080"/>
          <a:ext cx="4297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1929384"/>
            <a:ext cx="182880" cy="18288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76672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种已完成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376672" y="213969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结构式、登记号、国际编码三者齐备，可进入细胞株验证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0" y="2798064"/>
            <a:ext cx="182880" cy="182880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76672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种是苷元误配（待确认）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76672" y="300837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分子量刚好差 1 个或 2 个葡萄糖单位（162.14）——查到的是带糖的完整分子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0" y="3666744"/>
            <a:ext cx="182880" cy="182880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76672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种只差一个氢（待确认）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376672" y="387705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花生四烯酸的酸式与阴离子式，其实是同一个化合物，可直接确认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0" y="4535424"/>
            <a:ext cx="182880" cy="182880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76672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种查无结果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376672" y="474573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需改用化学登记号等第二种方式查找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983480" y="534924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257800" y="55321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要诚实说明的一点：人参最有名的人参皂苷，大多不在这 22 种里——它们分子太大、口服吸收率低，第一道门槛就被刷掉了。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一条贯穿五项功能的教训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程序跑得动、数字合理、画面正常——</a:t>
            </a:r>
            <a:endParaRPr lang="en-US" sz="3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但比较的基准选错了，它回答的是另一个问题。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1E44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340156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靶点比对失败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39319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显示成「没有关联」，看起来像研究结论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56432" y="320040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1E44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340156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通路不做校正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9319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每一条路线都会显著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81344" y="320040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1E44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82512" y="340156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覆盖率分母错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39319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进度永远不会归零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06256" y="320040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1E44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07424" y="340156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名称后缀被剥掉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07424" y="39319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会「成功地」查到另一个化合物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对一个科研平台来说，一个「不会报错」的错误，代价远高于一次明显的当机——因为分析结果会被当成研究依据引用。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后续重点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接下来的五件事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38912" cy="438912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 81 笔错误的分子对应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81965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数据风险，不是进度。必须在清理待确认队列之前完成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438912" cy="438912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2491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33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细胞株验证的画面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6700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数据与分析都完成了，但用户还看不到第 6 站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438912" cy="438912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7530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838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成分与蛋白质关联的来源分层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5204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有一群基因同时出现在两站，指向原始数据可能有系统性偏差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379976"/>
            <a:ext cx="438912" cy="438912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2569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34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人参补齐到 22 种全数完成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43708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改用化学登记号做第二层查找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230368"/>
            <a:ext cx="438912" cy="438912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27608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184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文献证据分级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52212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流程中唯一还没开始的一站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6035040"/>
            <a:ext cx="10927080" cy="621792"/>
          </a:xfrm>
          <a:prstGeom prst="roundRect">
            <a:avLst>
              <a:gd name="adj" fmla="val 11765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61813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本平台为科研辅助工具。所有分析结果为公开数据库的统计关联，不作为医疗诊断或治疗建议。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中藥腫瘤篩選平台　開發進度說明</dc:title>
  <dc:subject>PptxGenJS Presentation</dc:subject>
  <dc:creator>中藥腫瘤篩選平台</dc:creator>
  <cp:lastModifiedBy>中藥腫瘤篩選平台</cp:lastModifiedBy>
  <cp:revision>1</cp:revision>
  <dcterms:created xsi:type="dcterms:W3CDTF">2026-09-15T18:42:30Z</dcterms:created>
  <dcterms:modified xsi:type="dcterms:W3CDTF">2026-09-15T18:42:30Z</dcterms:modified>
</cp:coreProperties>
</file>